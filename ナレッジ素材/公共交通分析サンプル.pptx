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4"/>
  </p:sldMasterIdLst>
  <p:notesMasterIdLst>
    <p:notesMasterId r:id="rId14"/>
  </p:notesMasterIdLst>
  <p:handoutMasterIdLst>
    <p:handoutMasterId r:id="rId15"/>
  </p:handoutMasterIdLst>
  <p:sldIdLst>
    <p:sldId id="315" r:id="rId5"/>
    <p:sldId id="356" r:id="rId6"/>
    <p:sldId id="357" r:id="rId7"/>
    <p:sldId id="336" r:id="rId8"/>
    <p:sldId id="379" r:id="rId9"/>
    <p:sldId id="358" r:id="rId10"/>
    <p:sldId id="377" r:id="rId11"/>
    <p:sldId id="359" r:id="rId12"/>
    <p:sldId id="361" r:id="rId13"/>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D1F341D-8B56-E73B-6C9C-36C439965B94}" name="Naotaka Nishimura(西村　直峻)" initials="直西" userId="S::b0023@n-koei.co.jp::b6cb5e64-b6f3-4511-86dc-f6d60919dce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5749" autoAdjust="0"/>
  </p:normalViewPr>
  <p:slideViewPr>
    <p:cSldViewPr showGuides="1">
      <p:cViewPr varScale="1">
        <p:scale>
          <a:sx n="126" d="100"/>
          <a:sy n="126" d="100"/>
        </p:scale>
        <p:origin x="972" y="330"/>
      </p:cViewPr>
      <p:guideLst>
        <p:guide orient="horz" pos="2160"/>
        <p:guide pos="312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315226B-F713-792D-AFAA-5C72BA4DAF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3B1C4E6-0A7A-6FF1-F76F-259194AC13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D781A-8FC9-4886-AE35-A1143AE19D7E}" type="datetimeFigureOut">
              <a:rPr kumimoji="1" lang="ja-JP" altLang="en-US" smtClean="0"/>
              <a:t>2026/3/9</a:t>
            </a:fld>
            <a:endParaRPr kumimoji="1" lang="ja-JP" altLang="en-US"/>
          </a:p>
        </p:txBody>
      </p:sp>
      <p:sp>
        <p:nvSpPr>
          <p:cNvPr id="4" name="フッター プレースホルダー 3">
            <a:extLst>
              <a:ext uri="{FF2B5EF4-FFF2-40B4-BE49-F238E27FC236}">
                <a16:creationId xmlns:a16="http://schemas.microsoft.com/office/drawing/2014/main" id="{54416C52-1750-7163-05BA-A21064DF2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2726FF1-2A7B-C87F-D24C-DA1201E540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9D3E78-6635-46FD-B35B-046AE1EDA658}" type="slidenum">
              <a:rPr kumimoji="1" lang="ja-JP" altLang="en-US" smtClean="0"/>
              <a:t>‹#›</a:t>
            </a:fld>
            <a:endParaRPr kumimoji="1" lang="ja-JP" altLang="en-US"/>
          </a:p>
        </p:txBody>
      </p:sp>
    </p:spTree>
    <p:extLst>
      <p:ext uri="{BB962C8B-B14F-4D97-AF65-F5344CB8AC3E}">
        <p14:creationId xmlns:p14="http://schemas.microsoft.com/office/powerpoint/2010/main" val="385753537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B59A2-EF89-4999-B631-A71386D648BB}" type="datetimeFigureOut">
              <a:rPr kumimoji="1" lang="ja-JP" altLang="en-US" smtClean="0"/>
              <a:t>2026/3/9</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7A1C3-C7C8-40D2-A545-FA323D260011}" type="slidenum">
              <a:rPr kumimoji="1" lang="ja-JP" altLang="en-US" smtClean="0"/>
              <a:t>‹#›</a:t>
            </a:fld>
            <a:endParaRPr kumimoji="1" lang="ja-JP" altLang="en-US"/>
          </a:p>
        </p:txBody>
      </p:sp>
    </p:spTree>
    <p:extLst>
      <p:ext uri="{BB962C8B-B14F-4D97-AF65-F5344CB8AC3E}">
        <p14:creationId xmlns:p14="http://schemas.microsoft.com/office/powerpoint/2010/main" val="307618224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2" indent="0" algn="ctr">
              <a:buNone/>
              <a:defRPr sz="2000"/>
            </a:lvl2pPr>
            <a:lvl3pPr marL="914423" indent="0" algn="ctr">
              <a:buNone/>
              <a:defRPr sz="1800"/>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E064726-F5EC-4157-AB40-6608FCE2CCA8}" type="datetime1">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4063931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614C0EC-046F-4E85-B8EF-5CDDA99EFF70}" type="datetime1">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42564968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81" y="1709744"/>
            <a:ext cx="8543925"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881" y="4589469"/>
            <a:ext cx="8543925" cy="1500187"/>
          </a:xfrm>
        </p:spPr>
        <p:txBody>
          <a:bodyPr/>
          <a:lstStyle>
            <a:lvl1pPr marL="0" indent="0">
              <a:buNone/>
              <a:defRPr sz="2400">
                <a:solidFill>
                  <a:schemeClr val="tx1">
                    <a:tint val="82000"/>
                  </a:schemeClr>
                </a:solidFill>
              </a:defRPr>
            </a:lvl1pPr>
            <a:lvl2pPr marL="457212" indent="0">
              <a:buNone/>
              <a:defRPr sz="2000">
                <a:solidFill>
                  <a:schemeClr val="tx1">
                    <a:tint val="82000"/>
                  </a:schemeClr>
                </a:solidFill>
              </a:defRPr>
            </a:lvl2pPr>
            <a:lvl3pPr marL="914423" indent="0">
              <a:buNone/>
              <a:defRPr sz="1800">
                <a:solidFill>
                  <a:schemeClr val="tx1">
                    <a:tint val="82000"/>
                  </a:schemeClr>
                </a:solidFill>
              </a:defRPr>
            </a:lvl3pPr>
            <a:lvl4pPr marL="1371634" indent="0">
              <a:buNone/>
              <a:defRPr sz="1600">
                <a:solidFill>
                  <a:schemeClr val="tx1">
                    <a:tint val="82000"/>
                  </a:schemeClr>
                </a:solidFill>
              </a:defRPr>
            </a:lvl4pPr>
            <a:lvl5pPr marL="1828846" indent="0">
              <a:buNone/>
              <a:defRPr sz="1600">
                <a:solidFill>
                  <a:schemeClr val="tx1">
                    <a:tint val="82000"/>
                  </a:schemeClr>
                </a:solidFill>
              </a:defRPr>
            </a:lvl5pPr>
            <a:lvl6pPr marL="2286057" indent="0">
              <a:buNone/>
              <a:defRPr sz="1600">
                <a:solidFill>
                  <a:schemeClr val="tx1">
                    <a:tint val="82000"/>
                  </a:schemeClr>
                </a:solidFill>
              </a:defRPr>
            </a:lvl6pPr>
            <a:lvl7pPr marL="2743269" indent="0">
              <a:buNone/>
              <a:defRPr sz="1600">
                <a:solidFill>
                  <a:schemeClr val="tx1">
                    <a:tint val="82000"/>
                  </a:schemeClr>
                </a:solidFill>
              </a:defRPr>
            </a:lvl7pPr>
            <a:lvl8pPr marL="3200480" indent="0">
              <a:buNone/>
              <a:defRPr sz="1600">
                <a:solidFill>
                  <a:schemeClr val="tx1">
                    <a:tint val="82000"/>
                  </a:schemeClr>
                </a:solidFill>
              </a:defRPr>
            </a:lvl8pPr>
            <a:lvl9pPr marL="3657691"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D97E92E-63F2-4D75-85F8-7F91653216CA}" type="datetime1">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1629371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99C17FD1-66CD-455F-9C89-FE9A1523C709}" type="datetime1">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2520066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9" y="365129"/>
            <a:ext cx="8543925"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2331" y="1681163"/>
            <a:ext cx="4190702" cy="823912"/>
          </a:xfrm>
        </p:spPr>
        <p:txBody>
          <a:bodyPr anchor="b"/>
          <a:lstStyle>
            <a:lvl1pPr marL="0" indent="0">
              <a:buNone/>
              <a:defRPr sz="2400" b="1"/>
            </a:lvl1pPr>
            <a:lvl2pPr marL="457212" indent="0">
              <a:buNone/>
              <a:defRPr sz="2000" b="1"/>
            </a:lvl2pPr>
            <a:lvl3pPr marL="914423" indent="0">
              <a:buNone/>
              <a:defRPr sz="1800"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31"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12" indent="0">
              <a:buNone/>
              <a:defRPr sz="2000" b="1"/>
            </a:lvl2pPr>
            <a:lvl3pPr marL="914423" indent="0">
              <a:buNone/>
              <a:defRPr sz="1800"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54255978-F07E-4489-89BF-CD6EC011EDD5}" type="datetime1">
              <a:rPr kumimoji="1" lang="ja-JP" altLang="en-US" smtClean="0"/>
              <a:t>2026/3/9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2980488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7911091-0D91-4EEC-AA19-7E0F5EB14BF6}" type="datetime1">
              <a:rPr kumimoji="1" lang="ja-JP" altLang="en-US" smtClean="0"/>
              <a:t>2026/3/9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3540547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DBAE9-3D32-45C1-BB66-1C86127467DA}" type="datetime1">
              <a:rPr kumimoji="1" lang="ja-JP" altLang="en-US" smtClean="0"/>
              <a:t>2026/3/9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4233735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30" y="457200"/>
            <a:ext cx="3194943"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4211342" y="987431"/>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82330" y="2057400"/>
            <a:ext cx="3194943" cy="3811588"/>
          </a:xfrm>
        </p:spPr>
        <p:txBody>
          <a:bodyPr/>
          <a:lstStyle>
            <a:lvl1pPr marL="0" indent="0">
              <a:buNone/>
              <a:defRPr sz="1600"/>
            </a:lvl1pPr>
            <a:lvl2pPr marL="457212" indent="0">
              <a:buNone/>
              <a:defRPr sz="1400"/>
            </a:lvl2pPr>
            <a:lvl3pPr marL="914423" indent="0">
              <a:buNone/>
              <a:defRPr sz="1200"/>
            </a:lvl3pPr>
            <a:lvl4pPr marL="1371634" indent="0">
              <a:buNone/>
              <a:defRPr sz="1000"/>
            </a:lvl4pPr>
            <a:lvl5pPr marL="1828846" indent="0">
              <a:buNone/>
              <a:defRPr sz="1000"/>
            </a:lvl5pPr>
            <a:lvl6pPr marL="2286057" indent="0">
              <a:buNone/>
              <a:defRPr sz="1000"/>
            </a:lvl6pPr>
            <a:lvl7pPr marL="2743269" indent="0">
              <a:buNone/>
              <a:defRPr sz="1000"/>
            </a:lvl7pPr>
            <a:lvl8pPr marL="3200480" indent="0">
              <a:buNone/>
              <a:defRPr sz="1000"/>
            </a:lvl8pPr>
            <a:lvl9pPr marL="3657691"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BDFEF6F-72C3-483C-B727-879F567E2AFD}" type="datetime1">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3172312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30" y="457200"/>
            <a:ext cx="3194943"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4211342" y="987431"/>
            <a:ext cx="5014913" cy="4873625"/>
          </a:xfrm>
        </p:spPr>
        <p:txBody>
          <a:bodyPr anchor="t"/>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82330" y="2057400"/>
            <a:ext cx="3194943" cy="3811588"/>
          </a:xfrm>
        </p:spPr>
        <p:txBody>
          <a:bodyPr/>
          <a:lstStyle>
            <a:lvl1pPr marL="0" indent="0">
              <a:buNone/>
              <a:defRPr sz="1600"/>
            </a:lvl1pPr>
            <a:lvl2pPr marL="457212" indent="0">
              <a:buNone/>
              <a:defRPr sz="1400"/>
            </a:lvl2pPr>
            <a:lvl3pPr marL="914423" indent="0">
              <a:buNone/>
              <a:defRPr sz="1200"/>
            </a:lvl3pPr>
            <a:lvl4pPr marL="1371634" indent="0">
              <a:buNone/>
              <a:defRPr sz="1000"/>
            </a:lvl4pPr>
            <a:lvl5pPr marL="1828846" indent="0">
              <a:buNone/>
              <a:defRPr sz="1000"/>
            </a:lvl5pPr>
            <a:lvl6pPr marL="2286057" indent="0">
              <a:buNone/>
              <a:defRPr sz="1000"/>
            </a:lvl6pPr>
            <a:lvl7pPr marL="2743269" indent="0">
              <a:buNone/>
              <a:defRPr sz="1000"/>
            </a:lvl7pPr>
            <a:lvl8pPr marL="3200480" indent="0">
              <a:buNone/>
              <a:defRPr sz="1000"/>
            </a:lvl8pPr>
            <a:lvl9pPr marL="3657691"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FB118D5-FF28-4D67-93C9-E86F1111B81F}" type="datetime1">
              <a:rPr kumimoji="1" lang="ja-JP" altLang="en-US" smtClean="0"/>
              <a:t>2026/3/9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833703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3E76B6D-1517-4F2B-A0F8-6E02020E0189}" type="datetime1">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2203921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6BD849C-44C5-416C-9943-05288FC02123}" type="datetime1">
              <a:rPr kumimoji="1" lang="ja-JP" altLang="en-US" smtClean="0"/>
              <a:t>2026/3/9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79996DE-FBD2-443E-AEB9-D5C563058B9B}" type="slidenum">
              <a:rPr kumimoji="1" lang="ja-JP" altLang="en-US" smtClean="0"/>
              <a:t>‹#›</a:t>
            </a:fld>
            <a:endParaRPr kumimoji="1" lang="ja-JP" altLang="en-US"/>
          </a:p>
        </p:txBody>
      </p:sp>
    </p:spTree>
    <p:extLst>
      <p:ext uri="{BB962C8B-B14F-4D97-AF65-F5344CB8AC3E}">
        <p14:creationId xmlns:p14="http://schemas.microsoft.com/office/powerpoint/2010/main" val="1211687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9"/>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81038" y="6356356"/>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7FB1FD-8782-4421-8AC7-D4C87F427813}" type="datetime1">
              <a:rPr kumimoji="1" lang="ja-JP" altLang="en-US" smtClean="0"/>
              <a:t>2026/3/9</a:t>
            </a:fld>
            <a:endParaRPr kumimoji="1" lang="ja-JP" altLang="en-US"/>
          </a:p>
        </p:txBody>
      </p:sp>
      <p:sp>
        <p:nvSpPr>
          <p:cNvPr id="5" name="Footer Placeholder 4"/>
          <p:cNvSpPr>
            <a:spLocks noGrp="1"/>
          </p:cNvSpPr>
          <p:nvPr>
            <p:ph type="ftr" sz="quarter" idx="3"/>
          </p:nvPr>
        </p:nvSpPr>
        <p:spPr>
          <a:xfrm>
            <a:off x="3281363" y="6356356"/>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7677150" y="6492877"/>
            <a:ext cx="2228850" cy="365125"/>
          </a:xfrm>
          <a:prstGeom prst="rect">
            <a:avLst/>
          </a:prstGeom>
        </p:spPr>
        <p:txBody>
          <a:bodyPr vert="horz" lIns="91440" tIns="45720" rIns="91440" bIns="45720" rtlCol="0" anchor="ctr"/>
          <a:lstStyle>
            <a:lvl1pPr algn="r">
              <a:defRPr sz="1200">
                <a:solidFill>
                  <a:schemeClr val="tx1">
                    <a:tint val="82000"/>
                  </a:schemeClr>
                </a:solidFill>
                <a:latin typeface="UD デジタル 教科書体 NK-R" panose="02020400000000000000" pitchFamily="18" charset="-128"/>
                <a:ea typeface="UD デジタル 教科書体 NK-R" panose="02020400000000000000" pitchFamily="18" charset="-128"/>
              </a:defRPr>
            </a:lvl1pPr>
          </a:lstStyle>
          <a:p>
            <a:fld id="{D79996DE-FBD2-443E-AEB9-D5C563058B9B}" type="slidenum">
              <a:rPr kumimoji="1" lang="ja-JP" altLang="en-US" smtClean="0"/>
              <a:pPr/>
              <a:t>‹#›</a:t>
            </a:fld>
            <a:endParaRPr kumimoji="1" lang="ja-JP" altLang="en-US"/>
          </a:p>
        </p:txBody>
      </p:sp>
    </p:spTree>
    <p:extLst>
      <p:ext uri="{BB962C8B-B14F-4D97-AF65-F5344CB8AC3E}">
        <p14:creationId xmlns:p14="http://schemas.microsoft.com/office/powerpoint/2010/main" val="2849387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23" rtl="0" eaLnBrk="1" latinLnBrk="0" hangingPunct="1">
        <a:lnSpc>
          <a:spcPct val="90000"/>
        </a:lnSpc>
        <a:spcBef>
          <a:spcPct val="0"/>
        </a:spcBef>
        <a:buNone/>
        <a:defRPr kumimoji="1" sz="4401" kern="1200">
          <a:solidFill>
            <a:schemeClr val="tx1"/>
          </a:solidFill>
          <a:latin typeface="+mj-lt"/>
          <a:ea typeface="+mj-ea"/>
          <a:cs typeface="+mj-cs"/>
        </a:defRPr>
      </a:lvl1pPr>
    </p:titleStyle>
    <p:bodyStyle>
      <a:lvl1pPr marL="228606" indent="-228606" algn="l" defTabSz="914423"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17" indent="-228606" algn="l" defTabSz="914423"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28" indent="-228606" algn="l" defTabSz="914423"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40"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52"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74"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23" rtl="0" eaLnBrk="1" latinLnBrk="0" hangingPunct="1">
        <a:defRPr kumimoji="1" sz="1800" kern="1200">
          <a:solidFill>
            <a:schemeClr val="tx1"/>
          </a:solidFill>
          <a:latin typeface="+mn-lt"/>
          <a:ea typeface="+mn-ea"/>
          <a:cs typeface="+mn-cs"/>
        </a:defRPr>
      </a:lvl1pPr>
      <a:lvl2pPr marL="457212" algn="l" defTabSz="914423" rtl="0" eaLnBrk="1" latinLnBrk="0" hangingPunct="1">
        <a:defRPr kumimoji="1" sz="1800" kern="1200">
          <a:solidFill>
            <a:schemeClr val="tx1"/>
          </a:solidFill>
          <a:latin typeface="+mn-lt"/>
          <a:ea typeface="+mn-ea"/>
          <a:cs typeface="+mn-cs"/>
        </a:defRPr>
      </a:lvl2pPr>
      <a:lvl3pPr marL="914423" algn="l" defTabSz="914423" rtl="0" eaLnBrk="1" latinLnBrk="0" hangingPunct="1">
        <a:defRPr kumimoji="1" sz="1800" kern="1200">
          <a:solidFill>
            <a:schemeClr val="tx1"/>
          </a:solidFill>
          <a:latin typeface="+mn-lt"/>
          <a:ea typeface="+mn-ea"/>
          <a:cs typeface="+mn-cs"/>
        </a:defRPr>
      </a:lvl3pPr>
      <a:lvl4pPr marL="1371634" algn="l" defTabSz="914423" rtl="0" eaLnBrk="1" latinLnBrk="0" hangingPunct="1">
        <a:defRPr kumimoji="1" sz="1800" kern="1200">
          <a:solidFill>
            <a:schemeClr val="tx1"/>
          </a:solidFill>
          <a:latin typeface="+mn-lt"/>
          <a:ea typeface="+mn-ea"/>
          <a:cs typeface="+mn-cs"/>
        </a:defRPr>
      </a:lvl4pPr>
      <a:lvl5pPr marL="1828846" algn="l" defTabSz="914423" rtl="0" eaLnBrk="1" latinLnBrk="0" hangingPunct="1">
        <a:defRPr kumimoji="1" sz="1800" kern="1200">
          <a:solidFill>
            <a:schemeClr val="tx1"/>
          </a:solidFill>
          <a:latin typeface="+mn-lt"/>
          <a:ea typeface="+mn-ea"/>
          <a:cs typeface="+mn-cs"/>
        </a:defRPr>
      </a:lvl5pPr>
      <a:lvl6pPr marL="2286057" algn="l" defTabSz="914423" rtl="0" eaLnBrk="1" latinLnBrk="0" hangingPunct="1">
        <a:defRPr kumimoji="1" sz="1800" kern="1200">
          <a:solidFill>
            <a:schemeClr val="tx1"/>
          </a:solidFill>
          <a:latin typeface="+mn-lt"/>
          <a:ea typeface="+mn-ea"/>
          <a:cs typeface="+mn-cs"/>
        </a:defRPr>
      </a:lvl6pPr>
      <a:lvl7pPr marL="2743269" algn="l" defTabSz="914423" rtl="0" eaLnBrk="1" latinLnBrk="0" hangingPunct="1">
        <a:defRPr kumimoji="1" sz="1800" kern="1200">
          <a:solidFill>
            <a:schemeClr val="tx1"/>
          </a:solidFill>
          <a:latin typeface="+mn-lt"/>
          <a:ea typeface="+mn-ea"/>
          <a:cs typeface="+mn-cs"/>
        </a:defRPr>
      </a:lvl7pPr>
      <a:lvl8pPr marL="3200480" algn="l" defTabSz="914423" rtl="0" eaLnBrk="1" latinLnBrk="0" hangingPunct="1">
        <a:defRPr kumimoji="1" sz="1800" kern="1200">
          <a:solidFill>
            <a:schemeClr val="tx1"/>
          </a:solidFill>
          <a:latin typeface="+mn-lt"/>
          <a:ea typeface="+mn-ea"/>
          <a:cs typeface="+mn-cs"/>
        </a:defRPr>
      </a:lvl8pPr>
      <a:lvl9pPr marL="3657691" algn="l" defTabSz="914423"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D792-9694-9E34-AB05-A9CA2128319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64E57CA0-F47C-472C-2612-EB81688FC9F6}"/>
              </a:ext>
            </a:extLst>
          </p:cNvPr>
          <p:cNvSpPr/>
          <p:nvPr/>
        </p:nvSpPr>
        <p:spPr>
          <a:xfrm>
            <a:off x="0" y="4077072"/>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Title 8">
            <a:extLst>
              <a:ext uri="{FF2B5EF4-FFF2-40B4-BE49-F238E27FC236}">
                <a16:creationId xmlns:a16="http://schemas.microsoft.com/office/drawing/2014/main" id="{A54B96DB-EC48-9B96-149B-DED962BF644C}"/>
              </a:ext>
            </a:extLst>
          </p:cNvPr>
          <p:cNvSpPr>
            <a:spLocks noGrp="1"/>
          </p:cNvSpPr>
          <p:nvPr>
            <p:ph type="ctrTitle"/>
          </p:nvPr>
        </p:nvSpPr>
        <p:spPr>
          <a:xfrm>
            <a:off x="742950" y="1678837"/>
            <a:ext cx="8420100" cy="2387600"/>
          </a:xfrm>
        </p:spPr>
        <p:txBody>
          <a:bodyPr>
            <a:normAutofit fontScale="90000"/>
          </a:bodyPr>
          <a:lstStyle/>
          <a:p>
            <a:r>
              <a:rPr lang="en-US" altLang="ja-JP" dirty="0">
                <a:latin typeface="UD デジタル 教科書体 NK-R" panose="02020400000000000000" pitchFamily="18" charset="-128"/>
                <a:ea typeface="UD デジタル 教科書体 NK-R" panose="02020400000000000000" pitchFamily="18" charset="-128"/>
              </a:rPr>
              <a:t>N-LOUPE</a:t>
            </a:r>
            <a:br>
              <a:rPr lang="en-US" altLang="ja-JP" dirty="0">
                <a:latin typeface="UD デジタル 教科書体 NK-R" panose="02020400000000000000" pitchFamily="18" charset="-128"/>
                <a:ea typeface="UD デジタル 教科書体 NK-R" panose="02020400000000000000" pitchFamily="18" charset="-128"/>
              </a:rPr>
            </a:br>
            <a:r>
              <a:rPr lang="ja-JP" altLang="en-US" dirty="0">
                <a:latin typeface="UD デジタル 教科書体 NK-R" panose="02020400000000000000" pitchFamily="18" charset="-128"/>
                <a:ea typeface="UD デジタル 教科書体 NK-R" panose="02020400000000000000" pitchFamily="18" charset="-128"/>
              </a:rPr>
              <a:t>分析レポート（サンプル）</a:t>
            </a:r>
            <a:br>
              <a:rPr lang="en-US" altLang="ja-JP" dirty="0">
                <a:latin typeface="UD デジタル 教科書体 NK-R" panose="02020400000000000000" pitchFamily="18" charset="-128"/>
                <a:ea typeface="UD デジタル 教科書体 NK-R" panose="02020400000000000000" pitchFamily="18" charset="-128"/>
              </a:rPr>
            </a:br>
            <a:br>
              <a:rPr lang="en-US" altLang="ja-JP" dirty="0">
                <a:latin typeface="UD デジタル 教科書体 NK-R" panose="02020400000000000000" pitchFamily="18" charset="-128"/>
                <a:ea typeface="UD デジタル 教科書体 NK-R" panose="02020400000000000000" pitchFamily="18" charset="-128"/>
              </a:rPr>
            </a:br>
            <a:r>
              <a:rPr lang="ja-JP" altLang="en-US" dirty="0">
                <a:latin typeface="UD デジタル 教科書体 NK-R" panose="02020400000000000000" pitchFamily="18" charset="-128"/>
                <a:ea typeface="UD デジタル 教科書体 NK-R" panose="02020400000000000000" pitchFamily="18" charset="-128"/>
              </a:rPr>
              <a:t>公共交通分野</a:t>
            </a:r>
          </a:p>
        </p:txBody>
      </p:sp>
    </p:spTree>
    <p:extLst>
      <p:ext uri="{BB962C8B-B14F-4D97-AF65-F5344CB8AC3E}">
        <p14:creationId xmlns:p14="http://schemas.microsoft.com/office/powerpoint/2010/main" val="110662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3C1C-19DE-63E6-A9F7-48207A1E545B}"/>
            </a:ext>
          </a:extLst>
        </p:cNvPr>
        <p:cNvGrpSpPr/>
        <p:nvPr/>
      </p:nvGrpSpPr>
      <p:grpSpPr>
        <a:xfrm>
          <a:off x="0" y="0"/>
          <a:ext cx="0" cy="0"/>
          <a:chOff x="0" y="0"/>
          <a:chExt cx="0" cy="0"/>
        </a:xfrm>
      </p:grpSpPr>
      <p:pic>
        <p:nvPicPr>
          <p:cNvPr id="10" name="slide2" descr="曜日別概要">
            <a:extLst>
              <a:ext uri="{FF2B5EF4-FFF2-40B4-BE49-F238E27FC236}">
                <a16:creationId xmlns:a16="http://schemas.microsoft.com/office/drawing/2014/main" id="{8D071B66-A601-4E13-837D-F486DC6A8B45}"/>
              </a:ext>
            </a:extLst>
          </p:cNvPr>
          <p:cNvPicPr>
            <a:picLocks noChangeAspect="1"/>
          </p:cNvPicPr>
          <p:nvPr/>
        </p:nvPicPr>
        <p:blipFill>
          <a:blip r:embed="rId2">
            <a:extLst>
              <a:ext uri="{28A0092B-C50C-407E-A947-70E740481C1C}">
                <a14:useLocalDpi xmlns:a14="http://schemas.microsoft.com/office/drawing/2010/main" val="0"/>
              </a:ext>
            </a:extLst>
          </a:blip>
          <a:srcRect r="10492"/>
          <a:stretch>
            <a:fillRect/>
          </a:stretch>
        </p:blipFill>
        <p:spPr>
          <a:xfrm>
            <a:off x="1856656" y="2407000"/>
            <a:ext cx="6048672" cy="4451000"/>
          </a:xfrm>
          <a:prstGeom prst="rect">
            <a:avLst/>
          </a:prstGeom>
        </p:spPr>
      </p:pic>
      <p:sp>
        <p:nvSpPr>
          <p:cNvPr id="5" name="正方形/長方形 4">
            <a:extLst>
              <a:ext uri="{FF2B5EF4-FFF2-40B4-BE49-F238E27FC236}">
                <a16:creationId xmlns:a16="http://schemas.microsoft.com/office/drawing/2014/main" id="{ACB65FC4-2A82-3E38-537D-9B5A6639052E}"/>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38D4E845-269D-B801-4A79-26246FE19853}"/>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１</a:t>
            </a:r>
          </a:p>
        </p:txBody>
      </p:sp>
      <p:sp>
        <p:nvSpPr>
          <p:cNvPr id="8" name="テキスト ボックス 7">
            <a:extLst>
              <a:ext uri="{FF2B5EF4-FFF2-40B4-BE49-F238E27FC236}">
                <a16:creationId xmlns:a16="http://schemas.microsoft.com/office/drawing/2014/main" id="{72133F29-F220-71FC-F4DC-883FC768E174}"/>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対象データ基礎集計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2" name="正方形/長方形 1">
            <a:extLst>
              <a:ext uri="{FF2B5EF4-FFF2-40B4-BE49-F238E27FC236}">
                <a16:creationId xmlns:a16="http://schemas.microsoft.com/office/drawing/2014/main" id="{46AA5DBC-88B6-E0E8-EF65-375759A817EE}"/>
              </a:ext>
            </a:extLst>
          </p:cNvPr>
          <p:cNvSpPr/>
          <p:nvPr/>
        </p:nvSpPr>
        <p:spPr>
          <a:xfrm>
            <a:off x="128465" y="1494256"/>
            <a:ext cx="9649072" cy="864096"/>
          </a:xfrm>
          <a:prstGeom prst="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曜日別のトリップ数は、火曜や金曜に多く、月曜や日曜に少ない。</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移動時間は、</a:t>
            </a:r>
            <a:r>
              <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rPr>
              <a:t>40</a:t>
            </a: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分程度で、曜日による違いが少ない。</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8F00AFEF-0039-34DC-D06D-B12A38A8B27C}"/>
              </a:ext>
            </a:extLst>
          </p:cNvPr>
          <p:cNvSpPr>
            <a:spLocks noGrp="1"/>
          </p:cNvSpPr>
          <p:nvPr>
            <p:ph type="sldNum" sz="quarter" idx="12"/>
          </p:nvPr>
        </p:nvSpPr>
        <p:spPr/>
        <p:txBody>
          <a:bodyPr/>
          <a:lstStyle/>
          <a:p>
            <a:fld id="{D79996DE-FBD2-443E-AEB9-D5C563058B9B}" type="slidenum">
              <a:rPr kumimoji="1" lang="ja-JP" altLang="en-US" smtClean="0"/>
              <a:t>1</a:t>
            </a:fld>
            <a:endParaRPr kumimoji="1" lang="ja-JP" altLang="en-US"/>
          </a:p>
        </p:txBody>
      </p:sp>
      <p:sp>
        <p:nvSpPr>
          <p:cNvPr id="7" name="TextBox 6">
            <a:extLst>
              <a:ext uri="{FF2B5EF4-FFF2-40B4-BE49-F238E27FC236}">
                <a16:creationId xmlns:a16="http://schemas.microsoft.com/office/drawing/2014/main" id="{510065B3-FE05-0A11-BF00-92882FCF5DF8}"/>
              </a:ext>
            </a:extLst>
          </p:cNvPr>
          <p:cNvSpPr txBox="1"/>
          <p:nvPr/>
        </p:nvSpPr>
        <p:spPr>
          <a:xfrm>
            <a:off x="128464" y="644990"/>
            <a:ext cx="9577064" cy="738664"/>
          </a:xfrm>
          <a:prstGeom prst="rect">
            <a:avLst/>
          </a:prstGeom>
          <a:noFill/>
        </p:spPr>
        <p:txBody>
          <a:bodyPr wrap="square" rtlCol="0">
            <a:spAutoFit/>
          </a:bodyPr>
          <a:lstStyle/>
          <a:p>
            <a:pPr marL="285750" indent="-285750">
              <a:buFont typeface="Wingdings" panose="05000000000000000000" pitchFamily="2" charset="2"/>
              <a:buChar char="Ø"/>
            </a:pPr>
            <a:r>
              <a:rPr kumimoji="1" lang="ja-JP" altLang="en-US" sz="1400" dirty="0">
                <a:latin typeface="UD デジタル 教科書体 NK-R" panose="02020400000000000000" pitchFamily="18" charset="-128"/>
                <a:ea typeface="UD デジタル 教科書体 NK-R" panose="02020400000000000000" pitchFamily="18" charset="-128"/>
              </a:rPr>
              <a:t>対象期間：</a:t>
            </a:r>
            <a:r>
              <a:rPr kumimoji="1" lang="en-US" altLang="ja-JP" sz="1400" dirty="0">
                <a:latin typeface="UD デジタル 教科書体 NK-R" panose="02020400000000000000" pitchFamily="18" charset="-128"/>
                <a:ea typeface="UD デジタル 教科書体 NK-R" panose="02020400000000000000" pitchFamily="18" charset="-128"/>
              </a:rPr>
              <a:t>1</a:t>
            </a:r>
            <a:r>
              <a:rPr kumimoji="1" lang="ja-JP" altLang="en-US" sz="1400" dirty="0">
                <a:latin typeface="UD デジタル 教科書体 NK-R" panose="02020400000000000000" pitchFamily="18" charset="-128"/>
                <a:ea typeface="UD デジタル 教科書体 NK-R" panose="02020400000000000000" pitchFamily="18" charset="-128"/>
              </a:rPr>
              <a:t>ヶ月間</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285750" indent="-285750">
              <a:buFont typeface="Wingdings" panose="05000000000000000000" pitchFamily="2" charset="2"/>
              <a:buChar char="Ø"/>
            </a:pPr>
            <a:r>
              <a:rPr kumimoji="1" lang="ja-JP" altLang="en-US" sz="1400" dirty="0">
                <a:latin typeface="UD デジタル 教科書体 NK-R" panose="02020400000000000000" pitchFamily="18" charset="-128"/>
                <a:ea typeface="UD デジタル 教科書体 NK-R" panose="02020400000000000000" pitchFamily="18" charset="-128"/>
              </a:rPr>
              <a:t>対象者　　：対象期間内に市内でログが観測されたユーザー</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285750" indent="-285750">
              <a:buFont typeface="Wingdings" panose="05000000000000000000" pitchFamily="2" charset="2"/>
              <a:buChar char="Ø"/>
            </a:pPr>
            <a:r>
              <a:rPr kumimoji="1" lang="ja-JP" altLang="en-US" sz="1400" dirty="0">
                <a:latin typeface="UD デジタル 教科書体 NK-R" panose="02020400000000000000" pitchFamily="18" charset="-128"/>
                <a:ea typeface="UD デジタル 教科書体 NK-R" panose="02020400000000000000" pitchFamily="18" charset="-128"/>
              </a:rPr>
              <a:t>対象移動：市内の移動</a:t>
            </a:r>
          </a:p>
        </p:txBody>
      </p:sp>
      <p:grpSp>
        <p:nvGrpSpPr>
          <p:cNvPr id="11" name="Group 10">
            <a:extLst>
              <a:ext uri="{FF2B5EF4-FFF2-40B4-BE49-F238E27FC236}">
                <a16:creationId xmlns:a16="http://schemas.microsoft.com/office/drawing/2014/main" id="{77170564-CBDF-E9A5-1ABA-2413E8B43227}"/>
              </a:ext>
            </a:extLst>
          </p:cNvPr>
          <p:cNvGrpSpPr/>
          <p:nvPr/>
        </p:nvGrpSpPr>
        <p:grpSpPr>
          <a:xfrm>
            <a:off x="2250280" y="2780928"/>
            <a:ext cx="2669977" cy="4077071"/>
            <a:chOff x="1856656" y="3140968"/>
            <a:chExt cx="3063602" cy="3717031"/>
          </a:xfrm>
        </p:grpSpPr>
        <p:sp>
          <p:nvSpPr>
            <p:cNvPr id="4" name="Rectangle 3">
              <a:extLst>
                <a:ext uri="{FF2B5EF4-FFF2-40B4-BE49-F238E27FC236}">
                  <a16:creationId xmlns:a16="http://schemas.microsoft.com/office/drawing/2014/main" id="{BCE2914F-11B8-867A-546A-CCAF9D4F9975}"/>
                </a:ext>
              </a:extLst>
            </p:cNvPr>
            <p:cNvSpPr/>
            <p:nvPr/>
          </p:nvSpPr>
          <p:spPr>
            <a:xfrm>
              <a:off x="2288704" y="3140968"/>
              <a:ext cx="432048" cy="3717031"/>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Rectangle 8">
              <a:extLst>
                <a:ext uri="{FF2B5EF4-FFF2-40B4-BE49-F238E27FC236}">
                  <a16:creationId xmlns:a16="http://schemas.microsoft.com/office/drawing/2014/main" id="{F860E806-2B04-7A81-C24E-894B0A112166}"/>
                </a:ext>
              </a:extLst>
            </p:cNvPr>
            <p:cNvSpPr/>
            <p:nvPr/>
          </p:nvSpPr>
          <p:spPr>
            <a:xfrm>
              <a:off x="3610298" y="3140968"/>
              <a:ext cx="432048" cy="3717031"/>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Rectangle 12">
              <a:extLst>
                <a:ext uri="{FF2B5EF4-FFF2-40B4-BE49-F238E27FC236}">
                  <a16:creationId xmlns:a16="http://schemas.microsoft.com/office/drawing/2014/main" id="{5402BDAD-EE52-9238-B86E-63CC7F30FC04}"/>
                </a:ext>
              </a:extLst>
            </p:cNvPr>
            <p:cNvSpPr/>
            <p:nvPr/>
          </p:nvSpPr>
          <p:spPr>
            <a:xfrm>
              <a:off x="1856656" y="3573016"/>
              <a:ext cx="432048" cy="3284983"/>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Rectangle 13">
              <a:extLst>
                <a:ext uri="{FF2B5EF4-FFF2-40B4-BE49-F238E27FC236}">
                  <a16:creationId xmlns:a16="http://schemas.microsoft.com/office/drawing/2014/main" id="{E37A2997-0D90-389E-C121-8965AAF872E7}"/>
                </a:ext>
              </a:extLst>
            </p:cNvPr>
            <p:cNvSpPr/>
            <p:nvPr/>
          </p:nvSpPr>
          <p:spPr>
            <a:xfrm>
              <a:off x="4488210" y="3573016"/>
              <a:ext cx="432048" cy="3284983"/>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Rectangle 11">
            <a:extLst>
              <a:ext uri="{FF2B5EF4-FFF2-40B4-BE49-F238E27FC236}">
                <a16:creationId xmlns:a16="http://schemas.microsoft.com/office/drawing/2014/main" id="{89023DB9-F2D9-1DE7-9750-717728978802}"/>
              </a:ext>
            </a:extLst>
          </p:cNvPr>
          <p:cNvSpPr/>
          <p:nvPr/>
        </p:nvSpPr>
        <p:spPr>
          <a:xfrm>
            <a:off x="4985744" y="3861047"/>
            <a:ext cx="2919583" cy="288033"/>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31388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7B4CA-0822-2FE3-EB95-06E19B413DAF}"/>
            </a:ext>
          </a:extLst>
        </p:cNvPr>
        <p:cNvGrpSpPr/>
        <p:nvPr/>
      </p:nvGrpSpPr>
      <p:grpSpPr>
        <a:xfrm>
          <a:off x="0" y="0"/>
          <a:ext cx="0" cy="0"/>
          <a:chOff x="0" y="0"/>
          <a:chExt cx="0" cy="0"/>
        </a:xfrm>
      </p:grpSpPr>
      <p:pic>
        <p:nvPicPr>
          <p:cNvPr id="19" name="slide2" descr="時間帯別概要">
            <a:extLst>
              <a:ext uri="{FF2B5EF4-FFF2-40B4-BE49-F238E27FC236}">
                <a16:creationId xmlns:a16="http://schemas.microsoft.com/office/drawing/2014/main" id="{AF122466-E3BF-8754-E81B-7B8644497476}"/>
              </a:ext>
            </a:extLst>
          </p:cNvPr>
          <p:cNvPicPr>
            <a:picLocks noChangeAspect="1"/>
          </p:cNvPicPr>
          <p:nvPr/>
        </p:nvPicPr>
        <p:blipFill>
          <a:blip r:embed="rId2">
            <a:extLst>
              <a:ext uri="{28A0092B-C50C-407E-A947-70E740481C1C}">
                <a14:useLocalDpi xmlns:a14="http://schemas.microsoft.com/office/drawing/2010/main" val="0"/>
              </a:ext>
            </a:extLst>
          </a:blip>
          <a:srcRect r="9871"/>
          <a:stretch>
            <a:fillRect/>
          </a:stretch>
        </p:blipFill>
        <p:spPr>
          <a:xfrm>
            <a:off x="1323958" y="1682364"/>
            <a:ext cx="7085425" cy="5177953"/>
          </a:xfrm>
          <a:prstGeom prst="rect">
            <a:avLst/>
          </a:prstGeom>
        </p:spPr>
      </p:pic>
      <p:sp>
        <p:nvSpPr>
          <p:cNvPr id="5" name="正方形/長方形 4">
            <a:extLst>
              <a:ext uri="{FF2B5EF4-FFF2-40B4-BE49-F238E27FC236}">
                <a16:creationId xmlns:a16="http://schemas.microsoft.com/office/drawing/2014/main" id="{18CDAFD1-7712-B350-C804-5CC7911E9DC2}"/>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FBD04CAB-07F8-374A-DED9-E520EDA0BD9B}"/>
              </a:ext>
            </a:extLst>
          </p:cNvPr>
          <p:cNvSpPr/>
          <p:nvPr/>
        </p:nvSpPr>
        <p:spPr>
          <a:xfrm>
            <a:off x="128465" y="765692"/>
            <a:ext cx="9649072" cy="895900"/>
          </a:xfrm>
          <a:prstGeom prst="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時間帯別のトリップ数について、平日は朝夕にピークがあり、休日は昼から夕方にかけてピークがある。</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移動時間は平均</a:t>
            </a:r>
            <a:r>
              <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rPr>
              <a:t>40</a:t>
            </a: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分前後。平日よりも休日の方が、少し長い傾向がある。早い時間帯の移動時間が長い傾向がある。</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滞在時間は、午前の時間帯は約</a:t>
            </a:r>
            <a:r>
              <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rPr>
              <a:t>5</a:t>
            </a: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時間、午後の時間帯は約</a:t>
            </a:r>
            <a:r>
              <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rPr>
              <a:t>10</a:t>
            </a: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時間である。休日の方が長い傾向がある。</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8DDA799F-7767-BE0E-875B-6CE931BFA701}"/>
              </a:ext>
            </a:extLst>
          </p:cNvPr>
          <p:cNvSpPr>
            <a:spLocks noGrp="1"/>
          </p:cNvSpPr>
          <p:nvPr>
            <p:ph type="sldNum" sz="quarter" idx="12"/>
          </p:nvPr>
        </p:nvSpPr>
        <p:spPr/>
        <p:txBody>
          <a:bodyPr/>
          <a:lstStyle/>
          <a:p>
            <a:fld id="{D79996DE-FBD2-443E-AEB9-D5C563058B9B}" type="slidenum">
              <a:rPr kumimoji="1" lang="ja-JP" altLang="en-US" smtClean="0"/>
              <a:t>2</a:t>
            </a:fld>
            <a:endParaRPr kumimoji="1" lang="ja-JP" altLang="en-US"/>
          </a:p>
        </p:txBody>
      </p:sp>
      <p:sp>
        <p:nvSpPr>
          <p:cNvPr id="13" name="TextBox 6">
            <a:extLst>
              <a:ext uri="{FF2B5EF4-FFF2-40B4-BE49-F238E27FC236}">
                <a16:creationId xmlns:a16="http://schemas.microsoft.com/office/drawing/2014/main" id="{939AC0A9-BBB1-BB8E-BD82-3AF023D9588D}"/>
              </a:ext>
            </a:extLst>
          </p:cNvPr>
          <p:cNvSpPr txBox="1"/>
          <p:nvPr/>
        </p:nvSpPr>
        <p:spPr>
          <a:xfrm>
            <a:off x="51605" y="2852936"/>
            <a:ext cx="416496" cy="646331"/>
          </a:xfrm>
          <a:prstGeom prst="rect">
            <a:avLst/>
          </a:prstGeom>
          <a:solidFill>
            <a:schemeClr val="tx2">
              <a:lumMod val="50000"/>
              <a:lumOff val="50000"/>
            </a:schemeClr>
          </a:solidFill>
        </p:spPr>
        <p:txBody>
          <a:bodyPr wrap="square" rtlCol="0">
            <a:spAutoFit/>
          </a:bodyPr>
          <a:lstStyle/>
          <a:p>
            <a:pPr algn="ctr"/>
            <a:r>
              <a:rPr kumimoji="1" lang="ja-JP" altLang="en-US" b="1" dirty="0">
                <a:solidFill>
                  <a:schemeClr val="bg1"/>
                </a:solidFill>
                <a:latin typeface="UD デジタル 教科書体 NK-R" panose="02020400000000000000" pitchFamily="18" charset="-128"/>
                <a:ea typeface="UD デジタル 教科書体 NK-R" panose="02020400000000000000" pitchFamily="18" charset="-128"/>
              </a:rPr>
              <a:t>平日</a:t>
            </a:r>
          </a:p>
        </p:txBody>
      </p:sp>
      <p:sp>
        <p:nvSpPr>
          <p:cNvPr id="14" name="TextBox 6">
            <a:extLst>
              <a:ext uri="{FF2B5EF4-FFF2-40B4-BE49-F238E27FC236}">
                <a16:creationId xmlns:a16="http://schemas.microsoft.com/office/drawing/2014/main" id="{94916C08-10A0-F24F-894E-1B8C1F15FB9D}"/>
              </a:ext>
            </a:extLst>
          </p:cNvPr>
          <p:cNvSpPr txBox="1"/>
          <p:nvPr/>
        </p:nvSpPr>
        <p:spPr>
          <a:xfrm>
            <a:off x="51605" y="5301208"/>
            <a:ext cx="416496" cy="646331"/>
          </a:xfrm>
          <a:prstGeom prst="rect">
            <a:avLst/>
          </a:prstGeom>
          <a:solidFill>
            <a:schemeClr val="accent2"/>
          </a:solidFill>
        </p:spPr>
        <p:txBody>
          <a:bodyPr wrap="square" rtlCol="0">
            <a:spAutoFit/>
          </a:bodyPr>
          <a:lstStyle/>
          <a:p>
            <a:pPr algn="ctr"/>
            <a:r>
              <a:rPr kumimoji="1" lang="ja-JP" altLang="en-US" b="1" dirty="0">
                <a:solidFill>
                  <a:schemeClr val="bg1"/>
                </a:solidFill>
                <a:latin typeface="UD デジタル 教科書体 NK-R" panose="02020400000000000000" pitchFamily="18" charset="-128"/>
                <a:ea typeface="UD デジタル 教科書体 NK-R" panose="02020400000000000000" pitchFamily="18" charset="-128"/>
              </a:rPr>
              <a:t>休日</a:t>
            </a:r>
          </a:p>
        </p:txBody>
      </p:sp>
      <p:sp>
        <p:nvSpPr>
          <p:cNvPr id="10" name="Rectangle 9">
            <a:extLst>
              <a:ext uri="{FF2B5EF4-FFF2-40B4-BE49-F238E27FC236}">
                <a16:creationId xmlns:a16="http://schemas.microsoft.com/office/drawing/2014/main" id="{52A96824-CAC7-1BF0-9128-5D60970BF874}"/>
              </a:ext>
            </a:extLst>
          </p:cNvPr>
          <p:cNvSpPr/>
          <p:nvPr/>
        </p:nvSpPr>
        <p:spPr>
          <a:xfrm>
            <a:off x="2387600" y="4570537"/>
            <a:ext cx="762000" cy="2278559"/>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Rectangle 3">
            <a:extLst>
              <a:ext uri="{FF2B5EF4-FFF2-40B4-BE49-F238E27FC236}">
                <a16:creationId xmlns:a16="http://schemas.microsoft.com/office/drawing/2014/main" id="{36B8980D-6169-2ED1-4A78-6B4817BB8BC9}"/>
              </a:ext>
            </a:extLst>
          </p:cNvPr>
          <p:cNvSpPr/>
          <p:nvPr/>
        </p:nvSpPr>
        <p:spPr>
          <a:xfrm>
            <a:off x="1949441" y="2019061"/>
            <a:ext cx="216848" cy="2278559"/>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Rectangle 6">
            <a:extLst>
              <a:ext uri="{FF2B5EF4-FFF2-40B4-BE49-F238E27FC236}">
                <a16:creationId xmlns:a16="http://schemas.microsoft.com/office/drawing/2014/main" id="{803FF240-3356-B6BC-3EC4-31C353582BE0}"/>
              </a:ext>
            </a:extLst>
          </p:cNvPr>
          <p:cNvSpPr/>
          <p:nvPr/>
        </p:nvSpPr>
        <p:spPr>
          <a:xfrm>
            <a:off x="3954900" y="2113240"/>
            <a:ext cx="2039500" cy="629960"/>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Rectangle 8">
            <a:extLst>
              <a:ext uri="{FF2B5EF4-FFF2-40B4-BE49-F238E27FC236}">
                <a16:creationId xmlns:a16="http://schemas.microsoft.com/office/drawing/2014/main" id="{C0231D98-B93B-A67E-BED0-16F19092475F}"/>
              </a:ext>
            </a:extLst>
          </p:cNvPr>
          <p:cNvSpPr/>
          <p:nvPr/>
        </p:nvSpPr>
        <p:spPr>
          <a:xfrm>
            <a:off x="2921000" y="2019061"/>
            <a:ext cx="323967" cy="2278559"/>
          </a:xfrm>
          <a:prstGeom prst="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Rectangle 11">
            <a:extLst>
              <a:ext uri="{FF2B5EF4-FFF2-40B4-BE49-F238E27FC236}">
                <a16:creationId xmlns:a16="http://schemas.microsoft.com/office/drawing/2014/main" id="{CEB29FBD-6310-1EF8-F46E-9175918C7B05}"/>
              </a:ext>
            </a:extLst>
          </p:cNvPr>
          <p:cNvSpPr/>
          <p:nvPr/>
        </p:nvSpPr>
        <p:spPr>
          <a:xfrm>
            <a:off x="3959095" y="4746485"/>
            <a:ext cx="2088230" cy="629960"/>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Rectangle 14">
            <a:extLst>
              <a:ext uri="{FF2B5EF4-FFF2-40B4-BE49-F238E27FC236}">
                <a16:creationId xmlns:a16="http://schemas.microsoft.com/office/drawing/2014/main" id="{5CDB5869-BD65-5E77-F8F0-33B0FAA2BBBF}"/>
              </a:ext>
            </a:extLst>
          </p:cNvPr>
          <p:cNvSpPr/>
          <p:nvPr/>
        </p:nvSpPr>
        <p:spPr>
          <a:xfrm>
            <a:off x="6321151" y="1959736"/>
            <a:ext cx="2088231" cy="1253240"/>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Rectangle 19">
            <a:extLst>
              <a:ext uri="{FF2B5EF4-FFF2-40B4-BE49-F238E27FC236}">
                <a16:creationId xmlns:a16="http://schemas.microsoft.com/office/drawing/2014/main" id="{8FEC068E-D715-5686-3BC0-15F9B159DF90}"/>
              </a:ext>
            </a:extLst>
          </p:cNvPr>
          <p:cNvSpPr/>
          <p:nvPr/>
        </p:nvSpPr>
        <p:spPr>
          <a:xfrm>
            <a:off x="6321151" y="4461636"/>
            <a:ext cx="2088231" cy="1253240"/>
          </a:xfrm>
          <a:prstGeom prst="rect">
            <a:avLst/>
          </a:prstGeom>
          <a:no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5">
            <a:extLst>
              <a:ext uri="{FF2B5EF4-FFF2-40B4-BE49-F238E27FC236}">
                <a16:creationId xmlns:a16="http://schemas.microsoft.com/office/drawing/2014/main" id="{A1FC9D19-1B7C-07F3-4281-338B82101413}"/>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１</a:t>
            </a:r>
          </a:p>
        </p:txBody>
      </p:sp>
      <p:sp>
        <p:nvSpPr>
          <p:cNvPr id="11" name="テキスト ボックス 7">
            <a:extLst>
              <a:ext uri="{FF2B5EF4-FFF2-40B4-BE49-F238E27FC236}">
                <a16:creationId xmlns:a16="http://schemas.microsoft.com/office/drawing/2014/main" id="{180CBE34-906E-7BD7-D3A4-9A53C8989A43}"/>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対象データ基礎集計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395206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7F383-C27E-80E8-C407-2C4188FDC335}"/>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FBA9B833-F4B8-F771-FBF8-5DFB60D762EE}"/>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3F8DF82F-2D40-FBB6-08E3-8A9905AFBF65}"/>
              </a:ext>
            </a:extLst>
          </p:cNvPr>
          <p:cNvSpPr/>
          <p:nvPr/>
        </p:nvSpPr>
        <p:spPr>
          <a:xfrm>
            <a:off x="128465" y="668843"/>
            <a:ext cx="9649072" cy="959957"/>
          </a:xfrm>
          <a:prstGeom prst="rect">
            <a:avLst/>
          </a:prstGeom>
          <a:solidFill>
            <a:schemeClr val="accent4">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5" indent="-171455">
              <a:buFont typeface="Wingdings" panose="05000000000000000000" pitchFamily="2" charset="2"/>
              <a:buChar char="l"/>
            </a:pP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代表交通手段別のトリップ数では自動車が最も多く、全体の半分近くを占める。次いで徒歩が多い。公共交通は</a:t>
            </a:r>
            <a:r>
              <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rPr>
              <a:t>1</a:t>
            </a:r>
            <a:r>
              <a:rPr kumimoji="1" lang="ja-JP" altLang="en-US" sz="1400" dirty="0">
                <a:solidFill>
                  <a:schemeClr val="tx1"/>
                </a:solidFill>
                <a:latin typeface="UD デジタル 教科書体 NK-R" panose="02020400000000000000" pitchFamily="18" charset="-128"/>
                <a:ea typeface="UD デジタル 教科書体 NK-R" panose="02020400000000000000" pitchFamily="18" charset="-128"/>
              </a:rPr>
              <a:t>割程度。</a:t>
            </a:r>
            <a:endParaRPr kumimoji="1" lang="en-US" altLang="ja-JP" sz="14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21747885-9EA0-462A-2AFC-99EED77AE12C}"/>
              </a:ext>
            </a:extLst>
          </p:cNvPr>
          <p:cNvSpPr>
            <a:spLocks noGrp="1"/>
          </p:cNvSpPr>
          <p:nvPr>
            <p:ph type="sldNum" sz="quarter" idx="12"/>
          </p:nvPr>
        </p:nvSpPr>
        <p:spPr/>
        <p:txBody>
          <a:bodyPr/>
          <a:lstStyle/>
          <a:p>
            <a:fld id="{D79996DE-FBD2-443E-AEB9-D5C563058B9B}" type="slidenum">
              <a:rPr kumimoji="1" lang="ja-JP" altLang="en-US" smtClean="0"/>
              <a:t>3</a:t>
            </a:fld>
            <a:endParaRPr kumimoji="1" lang="ja-JP" altLang="en-US"/>
          </a:p>
        </p:txBody>
      </p:sp>
      <p:grpSp>
        <p:nvGrpSpPr>
          <p:cNvPr id="3" name="Group 2">
            <a:extLst>
              <a:ext uri="{FF2B5EF4-FFF2-40B4-BE49-F238E27FC236}">
                <a16:creationId xmlns:a16="http://schemas.microsoft.com/office/drawing/2014/main" id="{033D8884-A006-D595-6848-2CAC17539346}"/>
              </a:ext>
            </a:extLst>
          </p:cNvPr>
          <p:cNvGrpSpPr/>
          <p:nvPr/>
        </p:nvGrpSpPr>
        <p:grpSpPr>
          <a:xfrm>
            <a:off x="704528" y="1988840"/>
            <a:ext cx="8742734" cy="3223013"/>
            <a:chOff x="920552" y="1718155"/>
            <a:chExt cx="6984776" cy="2574941"/>
          </a:xfrm>
        </p:grpSpPr>
        <p:pic>
          <p:nvPicPr>
            <p:cNvPr id="24" name="slide2" descr="交通手段別・地区別">
              <a:extLst>
                <a:ext uri="{FF2B5EF4-FFF2-40B4-BE49-F238E27FC236}">
                  <a16:creationId xmlns:a16="http://schemas.microsoft.com/office/drawing/2014/main" id="{454C4306-1F95-9C3F-86BB-1C570F76CA46}"/>
                </a:ext>
              </a:extLst>
            </p:cNvPr>
            <p:cNvPicPr>
              <a:picLocks noChangeAspect="1"/>
            </p:cNvPicPr>
            <p:nvPr/>
          </p:nvPicPr>
          <p:blipFill>
            <a:blip r:embed="rId2">
              <a:extLst>
                <a:ext uri="{28A0092B-C50C-407E-A947-70E740481C1C}">
                  <a14:useLocalDpi xmlns:a14="http://schemas.microsoft.com/office/drawing/2010/main" val="0"/>
                </a:ext>
              </a:extLst>
            </a:blip>
            <a:srcRect r="10492" b="49902"/>
            <a:stretch>
              <a:fillRect/>
            </a:stretch>
          </p:blipFill>
          <p:spPr>
            <a:xfrm>
              <a:off x="920552" y="1718155"/>
              <a:ext cx="6984776" cy="2574941"/>
            </a:xfrm>
            <a:prstGeom prst="rect">
              <a:avLst/>
            </a:prstGeom>
          </p:spPr>
        </p:pic>
        <p:sp>
          <p:nvSpPr>
            <p:cNvPr id="7" name="TextBox 6">
              <a:extLst>
                <a:ext uri="{FF2B5EF4-FFF2-40B4-BE49-F238E27FC236}">
                  <a16:creationId xmlns:a16="http://schemas.microsoft.com/office/drawing/2014/main" id="{7F361E2A-27DC-774C-EA50-DB16FEB69BF0}"/>
                </a:ext>
              </a:extLst>
            </p:cNvPr>
            <p:cNvSpPr txBox="1"/>
            <p:nvPr/>
          </p:nvSpPr>
          <p:spPr>
            <a:xfrm>
              <a:off x="1310456" y="2514319"/>
              <a:ext cx="864096" cy="276999"/>
            </a:xfrm>
            <a:prstGeom prst="rect">
              <a:avLst/>
            </a:prstGeom>
            <a:noFill/>
          </p:spPr>
          <p:txBody>
            <a:bodyPr wrap="square" rtlCol="0">
              <a:spAutoFit/>
            </a:bodyPr>
            <a:lstStyle/>
            <a:p>
              <a:pPr algn="ctr"/>
              <a:r>
                <a:rPr kumimoji="1" lang="en-US" altLang="ja-JP" sz="1200" dirty="0">
                  <a:solidFill>
                    <a:srgbClr val="FF0000"/>
                  </a:solidFill>
                  <a:latin typeface="UD デジタル 教科書体 N" panose="02020400000000000000" pitchFamily="17" charset="-128"/>
                  <a:ea typeface="UD デジタル 教科書体 N" panose="02020400000000000000" pitchFamily="17" charset="-128"/>
                </a:rPr>
                <a:t>45</a:t>
              </a:r>
              <a:r>
                <a:rPr kumimoji="1" lang="ja-JP" altLang="en-US" sz="1200" dirty="0">
                  <a:solidFill>
                    <a:srgbClr val="FF0000"/>
                  </a:solidFill>
                  <a:latin typeface="UD デジタル 教科書体 N" panose="02020400000000000000" pitchFamily="17" charset="-128"/>
                  <a:ea typeface="UD デジタル 教科書体 N" panose="02020400000000000000" pitchFamily="17" charset="-128"/>
                </a:rPr>
                <a:t>％弱</a:t>
              </a:r>
            </a:p>
          </p:txBody>
        </p:sp>
        <p:sp>
          <p:nvSpPr>
            <p:cNvPr id="9" name="TextBox 8">
              <a:extLst>
                <a:ext uri="{FF2B5EF4-FFF2-40B4-BE49-F238E27FC236}">
                  <a16:creationId xmlns:a16="http://schemas.microsoft.com/office/drawing/2014/main" id="{200AC7A9-8AA2-C21B-A1F2-EB692DEA9349}"/>
                </a:ext>
              </a:extLst>
            </p:cNvPr>
            <p:cNvSpPr txBox="1"/>
            <p:nvPr/>
          </p:nvSpPr>
          <p:spPr>
            <a:xfrm>
              <a:off x="2134948" y="2822448"/>
              <a:ext cx="864096" cy="276999"/>
            </a:xfrm>
            <a:prstGeom prst="rect">
              <a:avLst/>
            </a:prstGeom>
            <a:noFill/>
          </p:spPr>
          <p:txBody>
            <a:bodyPr wrap="square" rtlCol="0">
              <a:spAutoFit/>
            </a:bodyPr>
            <a:lstStyle/>
            <a:p>
              <a:pPr algn="ctr"/>
              <a:r>
                <a:rPr kumimoji="1" lang="en-US" altLang="ja-JP" sz="1200" dirty="0">
                  <a:solidFill>
                    <a:srgbClr val="FF0000"/>
                  </a:solidFill>
                  <a:latin typeface="UD デジタル 教科書体 N" panose="02020400000000000000" pitchFamily="17" charset="-128"/>
                  <a:ea typeface="UD デジタル 教科書体 N" panose="02020400000000000000" pitchFamily="17" charset="-128"/>
                </a:rPr>
                <a:t>30</a:t>
              </a:r>
              <a:r>
                <a:rPr kumimoji="1" lang="ja-JP" altLang="en-US" sz="1200" dirty="0">
                  <a:solidFill>
                    <a:srgbClr val="FF0000"/>
                  </a:solidFill>
                  <a:latin typeface="UD デジタル 教科書体 N" panose="02020400000000000000" pitchFamily="17" charset="-128"/>
                  <a:ea typeface="UD デジタル 教科書体 N" panose="02020400000000000000" pitchFamily="17" charset="-128"/>
                </a:rPr>
                <a:t>％強</a:t>
              </a:r>
            </a:p>
          </p:txBody>
        </p:sp>
        <p:sp>
          <p:nvSpPr>
            <p:cNvPr id="10" name="TextBox 9">
              <a:extLst>
                <a:ext uri="{FF2B5EF4-FFF2-40B4-BE49-F238E27FC236}">
                  <a16:creationId xmlns:a16="http://schemas.microsoft.com/office/drawing/2014/main" id="{85123951-5A96-0EA1-CAE2-5CA6099F2EAC}"/>
                </a:ext>
              </a:extLst>
            </p:cNvPr>
            <p:cNvSpPr txBox="1"/>
            <p:nvPr/>
          </p:nvSpPr>
          <p:spPr>
            <a:xfrm>
              <a:off x="3872879" y="3213296"/>
              <a:ext cx="864096" cy="276999"/>
            </a:xfrm>
            <a:prstGeom prst="rect">
              <a:avLst/>
            </a:prstGeom>
            <a:noFill/>
          </p:spPr>
          <p:txBody>
            <a:bodyPr wrap="square" rtlCol="0">
              <a:spAutoFit/>
            </a:bodyPr>
            <a:lstStyle/>
            <a:p>
              <a:pPr algn="ctr"/>
              <a:r>
                <a:rPr kumimoji="1" lang="en-US" altLang="ja-JP" sz="1200" dirty="0">
                  <a:solidFill>
                    <a:srgbClr val="FF0000"/>
                  </a:solidFill>
                  <a:latin typeface="UD デジタル 教科書体 N" panose="02020400000000000000" pitchFamily="17" charset="-128"/>
                  <a:ea typeface="UD デジタル 教科書体 N" panose="02020400000000000000" pitchFamily="17" charset="-128"/>
                </a:rPr>
                <a:t>10</a:t>
              </a:r>
              <a:r>
                <a:rPr kumimoji="1" lang="ja-JP" altLang="en-US" sz="1200" dirty="0">
                  <a:solidFill>
                    <a:srgbClr val="FF0000"/>
                  </a:solidFill>
                  <a:latin typeface="UD デジタル 教科書体 N" panose="02020400000000000000" pitchFamily="17" charset="-128"/>
                  <a:ea typeface="UD デジタル 教科書体 N" panose="02020400000000000000" pitchFamily="17" charset="-128"/>
                </a:rPr>
                <a:t>％強</a:t>
              </a:r>
            </a:p>
          </p:txBody>
        </p:sp>
        <p:sp>
          <p:nvSpPr>
            <p:cNvPr id="11" name="Left Bracket 10">
              <a:extLst>
                <a:ext uri="{FF2B5EF4-FFF2-40B4-BE49-F238E27FC236}">
                  <a16:creationId xmlns:a16="http://schemas.microsoft.com/office/drawing/2014/main" id="{462017F4-3ACD-6F33-514F-9419935F9ECB}"/>
                </a:ext>
              </a:extLst>
            </p:cNvPr>
            <p:cNvSpPr/>
            <p:nvPr/>
          </p:nvSpPr>
          <p:spPr>
            <a:xfrm rot="5400000">
              <a:off x="4239491" y="2620679"/>
              <a:ext cx="130873" cy="1872208"/>
            </a:xfrm>
            <a:prstGeom prst="leftBracket">
              <a:avLst/>
            </a:prstGeom>
            <a:ln w="127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grpSp>
      <p:sp>
        <p:nvSpPr>
          <p:cNvPr id="4" name="正方形/長方形 5">
            <a:extLst>
              <a:ext uri="{FF2B5EF4-FFF2-40B4-BE49-F238E27FC236}">
                <a16:creationId xmlns:a16="http://schemas.microsoft.com/office/drawing/2014/main" id="{BCF8EFD1-3D56-0C43-CD6A-8C1F6EA2BE6F}"/>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１</a:t>
            </a:r>
          </a:p>
        </p:txBody>
      </p:sp>
      <p:sp>
        <p:nvSpPr>
          <p:cNvPr id="14" name="テキスト ボックス 7">
            <a:extLst>
              <a:ext uri="{FF2B5EF4-FFF2-40B4-BE49-F238E27FC236}">
                <a16:creationId xmlns:a16="http://schemas.microsoft.com/office/drawing/2014/main" id="{92C02632-D5FF-9B31-8BBC-8827063D4284}"/>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対象データ基礎集計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Tree>
    <p:extLst>
      <p:ext uri="{BB962C8B-B14F-4D97-AF65-F5344CB8AC3E}">
        <p14:creationId xmlns:p14="http://schemas.microsoft.com/office/powerpoint/2010/main" val="226133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0133B-8F86-9B13-1950-C08186ADDD70}"/>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1755C813-3C82-F952-31E8-2484C7C5EE4D}"/>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2B5C1AD5-F5AA-2E78-C12D-2841A07B6984}"/>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２</a:t>
            </a:r>
          </a:p>
        </p:txBody>
      </p:sp>
      <p:sp>
        <p:nvSpPr>
          <p:cNvPr id="8" name="テキスト ボックス 7">
            <a:extLst>
              <a:ext uri="{FF2B5EF4-FFF2-40B4-BE49-F238E27FC236}">
                <a16:creationId xmlns:a16="http://schemas.microsoft.com/office/drawing/2014/main" id="{640F2097-8477-E6BC-E007-44D115237138}"/>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人流データ分析レポート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18" name="スライド番号プレースホルダー 17">
            <a:extLst>
              <a:ext uri="{FF2B5EF4-FFF2-40B4-BE49-F238E27FC236}">
                <a16:creationId xmlns:a16="http://schemas.microsoft.com/office/drawing/2014/main" id="{BE1B09DC-DF26-B9BE-BAE5-3BEB9884242C}"/>
              </a:ext>
            </a:extLst>
          </p:cNvPr>
          <p:cNvSpPr>
            <a:spLocks noGrp="1"/>
          </p:cNvSpPr>
          <p:nvPr>
            <p:ph type="sldNum" sz="quarter" idx="12"/>
          </p:nvPr>
        </p:nvSpPr>
        <p:spPr/>
        <p:txBody>
          <a:bodyPr/>
          <a:lstStyle/>
          <a:p>
            <a:fld id="{D79996DE-FBD2-443E-AEB9-D5C563058B9B}" type="slidenum">
              <a:rPr kumimoji="1" lang="ja-JP" altLang="en-US" smtClean="0"/>
              <a:t>4</a:t>
            </a:fld>
            <a:endParaRPr kumimoji="1" lang="ja-JP" altLang="en-US"/>
          </a:p>
        </p:txBody>
      </p:sp>
      <p:sp>
        <p:nvSpPr>
          <p:cNvPr id="7" name="TextBox 6">
            <a:extLst>
              <a:ext uri="{FF2B5EF4-FFF2-40B4-BE49-F238E27FC236}">
                <a16:creationId xmlns:a16="http://schemas.microsoft.com/office/drawing/2014/main" id="{F440E7FE-9DCE-8DCF-A9B4-2C71F46FDDF9}"/>
              </a:ext>
            </a:extLst>
          </p:cNvPr>
          <p:cNvSpPr txBox="1"/>
          <p:nvPr/>
        </p:nvSpPr>
        <p:spPr>
          <a:xfrm>
            <a:off x="128464" y="725343"/>
            <a:ext cx="9577064" cy="1969770"/>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600" dirty="0">
                <a:latin typeface="UD デジタル 教科書体 NK-R" panose="02020400000000000000" pitchFamily="18" charset="-128"/>
                <a:ea typeface="UD デジタル 教科書体 NK-R" panose="02020400000000000000" pitchFamily="18" charset="-128"/>
              </a:rPr>
              <a:t>分析方針</a:t>
            </a:r>
            <a:endParaRPr kumimoji="1" lang="en-US" altLang="ja-JP" sz="1600" dirty="0">
              <a:latin typeface="UD デジタル 教科書体 NK-R" panose="02020400000000000000" pitchFamily="18" charset="-128"/>
              <a:ea typeface="UD デジタル 教科書体 NK-R" panose="02020400000000000000" pitchFamily="18" charset="-128"/>
            </a:endParaRPr>
          </a:p>
          <a:p>
            <a:pPr marL="361950" indent="-184150">
              <a:buFont typeface="Arial" panose="020B0604020202020204" pitchFamily="34" charset="0"/>
              <a:buChar char="•"/>
            </a:pPr>
            <a:r>
              <a:rPr kumimoji="1" lang="ja-JP" altLang="en-US" sz="1600" dirty="0">
                <a:latin typeface="UD デジタル 教科書体 NK-R" panose="02020400000000000000" pitchFamily="18" charset="-128"/>
                <a:ea typeface="UD デジタル 教科書体 NK-R" panose="02020400000000000000" pitchFamily="18" charset="-128"/>
              </a:rPr>
              <a:t>現状の路線バス再編の検討を支援するために、市内における移動と滞在の概況を把握</a:t>
            </a:r>
            <a:endParaRPr kumimoji="1" lang="en-US" altLang="ja-JP" sz="1600" dirty="0">
              <a:latin typeface="UD デジタル 教科書体 NK-R" panose="02020400000000000000" pitchFamily="18" charset="-128"/>
              <a:ea typeface="UD デジタル 教科書体 NK-R" panose="02020400000000000000" pitchFamily="18" charset="-128"/>
            </a:endParaRPr>
          </a:p>
          <a:p>
            <a:pPr marL="285750" indent="-285750">
              <a:spcBef>
                <a:spcPts val="600"/>
              </a:spcBef>
              <a:buFont typeface="Wingdings" panose="05000000000000000000" pitchFamily="2" charset="2"/>
              <a:buChar char="u"/>
            </a:pPr>
            <a:r>
              <a:rPr kumimoji="1" lang="ja-JP" altLang="en-US" sz="1600" dirty="0">
                <a:latin typeface="UD デジタル 教科書体 NK-R" panose="02020400000000000000" pitchFamily="18" charset="-128"/>
                <a:ea typeface="UD デジタル 教科書体 NK-R" panose="02020400000000000000" pitchFamily="18" charset="-128"/>
              </a:rPr>
              <a:t>分析データ</a:t>
            </a:r>
            <a:endParaRPr kumimoji="1" lang="en-US" altLang="ja-JP" sz="1600" dirty="0">
              <a:latin typeface="UD デジタル 教科書体 NK-R" panose="02020400000000000000" pitchFamily="18" charset="-128"/>
              <a:ea typeface="UD デジタル 教科書体 NK-R" panose="02020400000000000000" pitchFamily="18" charset="-128"/>
            </a:endParaRPr>
          </a:p>
          <a:p>
            <a:pPr marL="361950" indent="-184150">
              <a:buFont typeface="Arial" panose="020B0604020202020204" pitchFamily="34" charset="0"/>
              <a:buChar char="•"/>
            </a:pPr>
            <a:r>
              <a:rPr kumimoji="1" lang="ja-JP" altLang="en-US" sz="1600" dirty="0">
                <a:latin typeface="UD デジタル 教科書体 NK-R" panose="02020400000000000000" pitchFamily="18" charset="-128"/>
                <a:ea typeface="UD デジタル 教科書体 NK-R" panose="02020400000000000000" pitchFamily="18" charset="-128"/>
              </a:rPr>
              <a:t>対象期間：</a:t>
            </a:r>
            <a:r>
              <a:rPr kumimoji="1" lang="en-US" altLang="ja-JP" sz="1600" dirty="0">
                <a:latin typeface="UD デジタル 教科書体 NK-R" panose="02020400000000000000" pitchFamily="18" charset="-128"/>
                <a:ea typeface="UD デジタル 教科書体 NK-R" panose="02020400000000000000" pitchFamily="18" charset="-128"/>
              </a:rPr>
              <a:t>1</a:t>
            </a:r>
            <a:r>
              <a:rPr kumimoji="1" lang="ja-JP" altLang="en-US" sz="1600" dirty="0">
                <a:latin typeface="UD デジタル 教科書体 NK-R" panose="02020400000000000000" pitchFamily="18" charset="-128"/>
                <a:ea typeface="UD デジタル 教科書体 NK-R" panose="02020400000000000000" pitchFamily="18" charset="-128"/>
              </a:rPr>
              <a:t>ヶ月間</a:t>
            </a:r>
          </a:p>
          <a:p>
            <a:pPr marL="361950" indent="-184150">
              <a:buFont typeface="Arial" panose="020B0604020202020204" pitchFamily="34" charset="0"/>
              <a:buChar char="•"/>
            </a:pPr>
            <a:r>
              <a:rPr kumimoji="1" lang="ja-JP" altLang="en-US" sz="1600" dirty="0">
                <a:latin typeface="UD デジタル 教科書体 NK-R" panose="02020400000000000000" pitchFamily="18" charset="-128"/>
                <a:ea typeface="UD デジタル 教科書体 NK-R" panose="02020400000000000000" pitchFamily="18" charset="-128"/>
              </a:rPr>
              <a:t>対象移動：対象期間内に市内でログが観測されたユーザーによる、期間内のすべての移動</a:t>
            </a:r>
          </a:p>
          <a:p>
            <a:pPr marL="285750" indent="-285750">
              <a:spcBef>
                <a:spcPts val="600"/>
              </a:spcBef>
              <a:buFont typeface="Wingdings" panose="05000000000000000000" pitchFamily="2" charset="2"/>
              <a:buChar char="u"/>
            </a:pPr>
            <a:r>
              <a:rPr kumimoji="1" lang="ja-JP" altLang="en-US" sz="1600" dirty="0">
                <a:latin typeface="UD デジタル 教科書体 NK-R" panose="02020400000000000000" pitchFamily="18" charset="-128"/>
                <a:ea typeface="UD デジタル 教科書体 NK-R" panose="02020400000000000000" pitchFamily="18" charset="-128"/>
              </a:rPr>
              <a:t>分析内容</a:t>
            </a:r>
            <a:endParaRPr kumimoji="1" lang="en-US" altLang="ja-JP" sz="1600" dirty="0">
              <a:latin typeface="UD デジタル 教科書体 NK-R" panose="02020400000000000000" pitchFamily="18" charset="-128"/>
              <a:ea typeface="UD デジタル 教科書体 NK-R" panose="02020400000000000000" pitchFamily="18" charset="-128"/>
            </a:endParaRPr>
          </a:p>
          <a:p>
            <a:pPr marL="361950" indent="-184150">
              <a:buFont typeface="Arial" panose="020B0604020202020204" pitchFamily="34" charset="0"/>
              <a:buChar char="•"/>
            </a:pPr>
            <a:r>
              <a:rPr kumimoji="1" lang="ja-JP" altLang="en-US" sz="1600" dirty="0">
                <a:latin typeface="UD デジタル 教科書体 NK-R" panose="02020400000000000000" pitchFamily="18" charset="-128"/>
                <a:ea typeface="UD デジタル 教科書体 NK-R" panose="02020400000000000000" pitchFamily="18" charset="-128"/>
              </a:rPr>
              <a:t>バスの路線再編の際に想定される施策を検討するための分析項目を設定</a:t>
            </a:r>
            <a:endParaRPr kumimoji="1" lang="en-US" altLang="ja-JP" sz="1600" dirty="0">
              <a:latin typeface="UD デジタル 教科書体 NK-R" panose="02020400000000000000" pitchFamily="18" charset="-128"/>
              <a:ea typeface="UD デジタル 教科書体 NK-R" panose="02020400000000000000" pitchFamily="18" charset="-128"/>
            </a:endParaRPr>
          </a:p>
        </p:txBody>
      </p:sp>
      <p:grpSp>
        <p:nvGrpSpPr>
          <p:cNvPr id="45" name="Group 44">
            <a:extLst>
              <a:ext uri="{FF2B5EF4-FFF2-40B4-BE49-F238E27FC236}">
                <a16:creationId xmlns:a16="http://schemas.microsoft.com/office/drawing/2014/main" id="{763F0002-5AB6-8994-98B0-C60BCC2EBADC}"/>
              </a:ext>
            </a:extLst>
          </p:cNvPr>
          <p:cNvGrpSpPr/>
          <p:nvPr/>
        </p:nvGrpSpPr>
        <p:grpSpPr>
          <a:xfrm>
            <a:off x="240363" y="3132168"/>
            <a:ext cx="9353266" cy="3530323"/>
            <a:chOff x="280256" y="2592393"/>
            <a:chExt cx="9353266" cy="3977735"/>
          </a:xfrm>
        </p:grpSpPr>
        <p:sp>
          <p:nvSpPr>
            <p:cNvPr id="3" name="TextBox 2">
              <a:extLst>
                <a:ext uri="{FF2B5EF4-FFF2-40B4-BE49-F238E27FC236}">
                  <a16:creationId xmlns:a16="http://schemas.microsoft.com/office/drawing/2014/main" id="{4B2CAB37-9BF3-8912-C2F6-BB89A67C25B9}"/>
                </a:ext>
              </a:extLst>
            </p:cNvPr>
            <p:cNvSpPr txBox="1"/>
            <p:nvPr/>
          </p:nvSpPr>
          <p:spPr>
            <a:xfrm>
              <a:off x="314112" y="3001998"/>
              <a:ext cx="1584176" cy="276999"/>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路線網再編</a:t>
              </a:r>
            </a:p>
          </p:txBody>
        </p:sp>
        <p:sp>
          <p:nvSpPr>
            <p:cNvPr id="4" name="TextBox 3">
              <a:extLst>
                <a:ext uri="{FF2B5EF4-FFF2-40B4-BE49-F238E27FC236}">
                  <a16:creationId xmlns:a16="http://schemas.microsoft.com/office/drawing/2014/main" id="{9854341E-3E3C-34E5-E26E-99C5DD011068}"/>
                </a:ext>
              </a:extLst>
            </p:cNvPr>
            <p:cNvSpPr txBox="1"/>
            <p:nvPr/>
          </p:nvSpPr>
          <p:spPr>
            <a:xfrm>
              <a:off x="2178427" y="2988375"/>
              <a:ext cx="2063055"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（１）拠点間の連絡</a:t>
              </a:r>
            </a:p>
          </p:txBody>
        </p:sp>
        <p:sp>
          <p:nvSpPr>
            <p:cNvPr id="9" name="TextBox 8">
              <a:extLst>
                <a:ext uri="{FF2B5EF4-FFF2-40B4-BE49-F238E27FC236}">
                  <a16:creationId xmlns:a16="http://schemas.microsoft.com/office/drawing/2014/main" id="{F0ED83B9-DEE2-E88C-2D21-F846BF41F0BC}"/>
                </a:ext>
              </a:extLst>
            </p:cNvPr>
            <p:cNvSpPr txBox="1"/>
            <p:nvPr/>
          </p:nvSpPr>
          <p:spPr>
            <a:xfrm>
              <a:off x="2178427" y="4797254"/>
              <a:ext cx="2063055"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（２）運行間隔の最適化</a:t>
              </a:r>
            </a:p>
          </p:txBody>
        </p:sp>
        <p:sp>
          <p:nvSpPr>
            <p:cNvPr id="10" name="TextBox 9">
              <a:extLst>
                <a:ext uri="{FF2B5EF4-FFF2-40B4-BE49-F238E27FC236}">
                  <a16:creationId xmlns:a16="http://schemas.microsoft.com/office/drawing/2014/main" id="{0816E559-925D-1FCC-9370-326DA807C416}"/>
                </a:ext>
              </a:extLst>
            </p:cNvPr>
            <p:cNvSpPr txBox="1"/>
            <p:nvPr/>
          </p:nvSpPr>
          <p:spPr>
            <a:xfrm>
              <a:off x="2178427" y="5706684"/>
              <a:ext cx="2063055"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（３）路線経路の変更</a:t>
              </a:r>
            </a:p>
          </p:txBody>
        </p:sp>
        <p:sp>
          <p:nvSpPr>
            <p:cNvPr id="11" name="TextBox 10">
              <a:extLst>
                <a:ext uri="{FF2B5EF4-FFF2-40B4-BE49-F238E27FC236}">
                  <a16:creationId xmlns:a16="http://schemas.microsoft.com/office/drawing/2014/main" id="{20FA71C6-AAFB-28BE-79D1-88F4E599C29E}"/>
                </a:ext>
              </a:extLst>
            </p:cNvPr>
            <p:cNvSpPr txBox="1"/>
            <p:nvPr/>
          </p:nvSpPr>
          <p:spPr>
            <a:xfrm>
              <a:off x="4521621" y="2993222"/>
              <a:ext cx="5111899"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１）来訪者分析</a:t>
              </a:r>
            </a:p>
          </p:txBody>
        </p:sp>
        <p:sp>
          <p:nvSpPr>
            <p:cNvPr id="12" name="TextBox 11">
              <a:extLst>
                <a:ext uri="{FF2B5EF4-FFF2-40B4-BE49-F238E27FC236}">
                  <a16:creationId xmlns:a16="http://schemas.microsoft.com/office/drawing/2014/main" id="{EBCFA177-A4BA-F885-49F9-A215DC80F11C}"/>
                </a:ext>
              </a:extLst>
            </p:cNvPr>
            <p:cNvSpPr txBox="1"/>
            <p:nvPr/>
          </p:nvSpPr>
          <p:spPr>
            <a:xfrm>
              <a:off x="4521621" y="4795637"/>
              <a:ext cx="5111899"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１）滞在分析</a:t>
              </a:r>
            </a:p>
          </p:txBody>
        </p:sp>
        <p:sp>
          <p:nvSpPr>
            <p:cNvPr id="13" name="TextBox 12">
              <a:extLst>
                <a:ext uri="{FF2B5EF4-FFF2-40B4-BE49-F238E27FC236}">
                  <a16:creationId xmlns:a16="http://schemas.microsoft.com/office/drawing/2014/main" id="{F276E7D6-1B86-949C-8448-301E1D2E5A35}"/>
                </a:ext>
              </a:extLst>
            </p:cNvPr>
            <p:cNvSpPr txBox="1"/>
            <p:nvPr/>
          </p:nvSpPr>
          <p:spPr>
            <a:xfrm>
              <a:off x="4521621" y="3881361"/>
              <a:ext cx="5111899"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２）移動傾向（</a:t>
              </a:r>
              <a:r>
                <a:rPr kumimoji="1" lang="en-US" altLang="ja-JP" sz="1200" dirty="0">
                  <a:latin typeface="UD デジタル 教科書体 NK-R" panose="02020400000000000000" pitchFamily="18" charset="-128"/>
                  <a:ea typeface="UD デジタル 教科書体 NK-R" panose="02020400000000000000" pitchFamily="18" charset="-128"/>
                </a:rPr>
                <a:t>OD</a:t>
              </a:r>
              <a:r>
                <a:rPr kumimoji="1" lang="ja-JP" altLang="en-US" sz="1200" dirty="0">
                  <a:latin typeface="UD デジタル 教科書体 NK-R" panose="02020400000000000000" pitchFamily="18" charset="-128"/>
                  <a:ea typeface="UD デジタル 教科書体 NK-R" panose="02020400000000000000" pitchFamily="18" charset="-128"/>
                </a:rPr>
                <a:t>）分析</a:t>
              </a:r>
            </a:p>
          </p:txBody>
        </p:sp>
        <p:sp>
          <p:nvSpPr>
            <p:cNvPr id="14" name="TextBox 13">
              <a:extLst>
                <a:ext uri="{FF2B5EF4-FFF2-40B4-BE49-F238E27FC236}">
                  <a16:creationId xmlns:a16="http://schemas.microsoft.com/office/drawing/2014/main" id="{F6C360FD-DC3F-4C66-5B8A-926375EC56B4}"/>
                </a:ext>
              </a:extLst>
            </p:cNvPr>
            <p:cNvSpPr txBox="1"/>
            <p:nvPr/>
          </p:nvSpPr>
          <p:spPr>
            <a:xfrm>
              <a:off x="4521621" y="5713481"/>
              <a:ext cx="5111899" cy="312104"/>
            </a:xfrm>
            <a:prstGeom prst="rect">
              <a:avLst/>
            </a:prstGeom>
            <a:noFill/>
            <a:ln>
              <a:solidFill>
                <a:schemeClr val="tx1"/>
              </a:solidFill>
            </a:ln>
          </p:spPr>
          <p:txBody>
            <a:bodyPr wrap="square" rtlCol="0">
              <a:spAutoFit/>
            </a:bodyPr>
            <a:lstStyle/>
            <a:p>
              <a:r>
                <a:rPr kumimoji="1" lang="ja-JP" altLang="en-US" sz="1200" dirty="0">
                  <a:latin typeface="UD デジタル 教科書体 NK-R" panose="02020400000000000000" pitchFamily="18" charset="-128"/>
                  <a:ea typeface="UD デジタル 教科書体 NK-R" panose="02020400000000000000" pitchFamily="18" charset="-128"/>
                </a:rPr>
                <a:t>１）移動傾向（</a:t>
              </a:r>
              <a:r>
                <a:rPr kumimoji="1" lang="en-US" altLang="ja-JP" sz="1200" dirty="0">
                  <a:latin typeface="UD デジタル 教科書体 NK-R" panose="02020400000000000000" pitchFamily="18" charset="-128"/>
                  <a:ea typeface="UD デジタル 教科書体 NK-R" panose="02020400000000000000" pitchFamily="18" charset="-128"/>
                </a:rPr>
                <a:t>OD</a:t>
              </a:r>
              <a:r>
                <a:rPr kumimoji="1" lang="ja-JP" altLang="en-US" sz="1200" dirty="0">
                  <a:latin typeface="UD デジタル 教科書体 NK-R" panose="02020400000000000000" pitchFamily="18" charset="-128"/>
                  <a:ea typeface="UD デジタル 教科書体 NK-R" panose="02020400000000000000" pitchFamily="18" charset="-128"/>
                </a:rPr>
                <a:t>）分析</a:t>
              </a:r>
            </a:p>
          </p:txBody>
        </p:sp>
        <p:cxnSp>
          <p:nvCxnSpPr>
            <p:cNvPr id="15" name="Connector: Elbow 14">
              <a:extLst>
                <a:ext uri="{FF2B5EF4-FFF2-40B4-BE49-F238E27FC236}">
                  <a16:creationId xmlns:a16="http://schemas.microsoft.com/office/drawing/2014/main" id="{466A3724-08B9-3748-06AA-74890A39DC58}"/>
                </a:ext>
              </a:extLst>
            </p:cNvPr>
            <p:cNvCxnSpPr>
              <a:stCxn id="3" idx="3"/>
              <a:endCxn id="4" idx="1"/>
            </p:cNvCxnSpPr>
            <p:nvPr/>
          </p:nvCxnSpPr>
          <p:spPr>
            <a:xfrm>
              <a:off x="1898288" y="3140497"/>
              <a:ext cx="280139" cy="3930"/>
            </a:xfrm>
            <a:prstGeom prst="bentConnector3">
              <a:avLst/>
            </a:prstGeom>
            <a:ln w="9525"/>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9A0FCED1-3DAE-CFE7-D972-70819B26A69E}"/>
                </a:ext>
              </a:extLst>
            </p:cNvPr>
            <p:cNvCxnSpPr>
              <a:cxnSpLocks/>
              <a:stCxn id="3" idx="3"/>
              <a:endCxn id="9" idx="1"/>
            </p:cNvCxnSpPr>
            <p:nvPr/>
          </p:nvCxnSpPr>
          <p:spPr>
            <a:xfrm>
              <a:off x="1898288" y="3140497"/>
              <a:ext cx="280139" cy="1812809"/>
            </a:xfrm>
            <a:prstGeom prst="bentConnector3">
              <a:avLst/>
            </a:prstGeom>
            <a:ln w="9525"/>
          </p:spPr>
          <p:style>
            <a:lnRef idx="2">
              <a:schemeClr val="dk1"/>
            </a:lnRef>
            <a:fillRef idx="0">
              <a:schemeClr val="dk1"/>
            </a:fillRef>
            <a:effectRef idx="1">
              <a:schemeClr val="dk1"/>
            </a:effectRef>
            <a:fontRef idx="minor">
              <a:schemeClr val="tx1"/>
            </a:fontRef>
          </p:style>
        </p:cxnSp>
        <p:cxnSp>
          <p:nvCxnSpPr>
            <p:cNvPr id="17" name="Connector: Elbow 16">
              <a:extLst>
                <a:ext uri="{FF2B5EF4-FFF2-40B4-BE49-F238E27FC236}">
                  <a16:creationId xmlns:a16="http://schemas.microsoft.com/office/drawing/2014/main" id="{8E47E5AA-B7AA-4E72-69BD-E85D8E90CA16}"/>
                </a:ext>
              </a:extLst>
            </p:cNvPr>
            <p:cNvCxnSpPr>
              <a:cxnSpLocks/>
              <a:stCxn id="3" idx="3"/>
              <a:endCxn id="10" idx="1"/>
            </p:cNvCxnSpPr>
            <p:nvPr/>
          </p:nvCxnSpPr>
          <p:spPr>
            <a:xfrm>
              <a:off x="1898288" y="3140497"/>
              <a:ext cx="280139" cy="2722239"/>
            </a:xfrm>
            <a:prstGeom prst="bentConnector3">
              <a:avLst>
                <a:gd name="adj1" fmla="val 50000"/>
              </a:avLst>
            </a:prstGeom>
            <a:ln w="9525"/>
          </p:spPr>
          <p:style>
            <a:lnRef idx="2">
              <a:schemeClr val="dk1"/>
            </a:lnRef>
            <a:fillRef idx="0">
              <a:schemeClr val="dk1"/>
            </a:fillRef>
            <a:effectRef idx="1">
              <a:schemeClr val="dk1"/>
            </a:effectRef>
            <a:fontRef idx="minor">
              <a:schemeClr val="tx1"/>
            </a:fontRef>
          </p:style>
        </p:cxnSp>
        <p:cxnSp>
          <p:nvCxnSpPr>
            <p:cNvPr id="24" name="Connector: Elbow 23">
              <a:extLst>
                <a:ext uri="{FF2B5EF4-FFF2-40B4-BE49-F238E27FC236}">
                  <a16:creationId xmlns:a16="http://schemas.microsoft.com/office/drawing/2014/main" id="{8B60131D-74C9-751A-25A8-CE28A9BD016A}"/>
                </a:ext>
              </a:extLst>
            </p:cNvPr>
            <p:cNvCxnSpPr>
              <a:cxnSpLocks/>
              <a:stCxn id="4" idx="3"/>
              <a:endCxn id="11" idx="1"/>
            </p:cNvCxnSpPr>
            <p:nvPr/>
          </p:nvCxnSpPr>
          <p:spPr>
            <a:xfrm>
              <a:off x="4241482" y="3144427"/>
              <a:ext cx="280139" cy="4847"/>
            </a:xfrm>
            <a:prstGeom prst="bentConnector3">
              <a:avLst/>
            </a:prstGeom>
            <a:ln w="9525"/>
          </p:spPr>
          <p:style>
            <a:lnRef idx="2">
              <a:schemeClr val="dk1"/>
            </a:lnRef>
            <a:fillRef idx="0">
              <a:schemeClr val="dk1"/>
            </a:fillRef>
            <a:effectRef idx="1">
              <a:schemeClr val="dk1"/>
            </a:effectRef>
            <a:fontRef idx="minor">
              <a:schemeClr val="tx1"/>
            </a:fontRef>
          </p:style>
        </p:cxnSp>
        <p:cxnSp>
          <p:nvCxnSpPr>
            <p:cNvPr id="29" name="Connector: Elbow 28">
              <a:extLst>
                <a:ext uri="{FF2B5EF4-FFF2-40B4-BE49-F238E27FC236}">
                  <a16:creationId xmlns:a16="http://schemas.microsoft.com/office/drawing/2014/main" id="{18F2A4E9-6004-19AB-8E39-0CB81D33D0B1}"/>
                </a:ext>
              </a:extLst>
            </p:cNvPr>
            <p:cNvCxnSpPr>
              <a:cxnSpLocks/>
              <a:stCxn id="4" idx="3"/>
              <a:endCxn id="13" idx="1"/>
            </p:cNvCxnSpPr>
            <p:nvPr/>
          </p:nvCxnSpPr>
          <p:spPr>
            <a:xfrm>
              <a:off x="4241482" y="3144427"/>
              <a:ext cx="280139" cy="892986"/>
            </a:xfrm>
            <a:prstGeom prst="bentConnector3">
              <a:avLst/>
            </a:prstGeom>
            <a:ln w="9525"/>
          </p:spPr>
          <p:style>
            <a:lnRef idx="2">
              <a:schemeClr val="dk1"/>
            </a:lnRef>
            <a:fillRef idx="0">
              <a:schemeClr val="dk1"/>
            </a:fillRef>
            <a:effectRef idx="1">
              <a:schemeClr val="dk1"/>
            </a:effectRef>
            <a:fontRef idx="minor">
              <a:schemeClr val="tx1"/>
            </a:fontRef>
          </p:style>
        </p:cxnSp>
        <p:cxnSp>
          <p:nvCxnSpPr>
            <p:cNvPr id="32" name="Connector: Elbow 31">
              <a:extLst>
                <a:ext uri="{FF2B5EF4-FFF2-40B4-BE49-F238E27FC236}">
                  <a16:creationId xmlns:a16="http://schemas.microsoft.com/office/drawing/2014/main" id="{CE8B555F-63B1-95AA-A298-0DF7AFBF979B}"/>
                </a:ext>
              </a:extLst>
            </p:cNvPr>
            <p:cNvCxnSpPr>
              <a:cxnSpLocks/>
              <a:stCxn id="9" idx="3"/>
              <a:endCxn id="12" idx="1"/>
            </p:cNvCxnSpPr>
            <p:nvPr/>
          </p:nvCxnSpPr>
          <p:spPr>
            <a:xfrm flipV="1">
              <a:off x="4241482" y="4951690"/>
              <a:ext cx="280139" cy="1617"/>
            </a:xfrm>
            <a:prstGeom prst="bentConnector3">
              <a:avLst>
                <a:gd name="adj1" fmla="val 50000"/>
              </a:avLst>
            </a:prstGeom>
            <a:ln w="9525"/>
          </p:spPr>
          <p:style>
            <a:lnRef idx="2">
              <a:schemeClr val="dk1"/>
            </a:lnRef>
            <a:fillRef idx="0">
              <a:schemeClr val="dk1"/>
            </a:fillRef>
            <a:effectRef idx="1">
              <a:schemeClr val="dk1"/>
            </a:effectRef>
            <a:fontRef idx="minor">
              <a:schemeClr val="tx1"/>
            </a:fontRef>
          </p:style>
        </p:cxnSp>
        <p:cxnSp>
          <p:nvCxnSpPr>
            <p:cNvPr id="39" name="Connector: Elbow 38">
              <a:extLst>
                <a:ext uri="{FF2B5EF4-FFF2-40B4-BE49-F238E27FC236}">
                  <a16:creationId xmlns:a16="http://schemas.microsoft.com/office/drawing/2014/main" id="{B8ED3A20-0078-3377-99CF-25F67C0E0EC3}"/>
                </a:ext>
              </a:extLst>
            </p:cNvPr>
            <p:cNvCxnSpPr>
              <a:cxnSpLocks/>
              <a:stCxn id="10" idx="3"/>
              <a:endCxn id="14" idx="1"/>
            </p:cNvCxnSpPr>
            <p:nvPr/>
          </p:nvCxnSpPr>
          <p:spPr>
            <a:xfrm>
              <a:off x="4241482" y="5862736"/>
              <a:ext cx="280139" cy="6798"/>
            </a:xfrm>
            <a:prstGeom prst="bentConnector3">
              <a:avLst>
                <a:gd name="adj1" fmla="val 50000"/>
              </a:avLst>
            </a:prstGeom>
            <a:ln w="9525"/>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EF8A3C17-433A-77FA-A108-A81986FECCB6}"/>
                </a:ext>
              </a:extLst>
            </p:cNvPr>
            <p:cNvSpPr txBox="1"/>
            <p:nvPr/>
          </p:nvSpPr>
          <p:spPr>
            <a:xfrm>
              <a:off x="280256" y="2592393"/>
              <a:ext cx="1618032" cy="307777"/>
            </a:xfrm>
            <a:prstGeom prst="rect">
              <a:avLst/>
            </a:prstGeom>
            <a:noFill/>
          </p:spPr>
          <p:txBody>
            <a:bodyPr wrap="square" rtlCol="0">
              <a:spAutoFit/>
            </a:bodyPr>
            <a:lstStyle/>
            <a:p>
              <a:pPr algn="ctr"/>
              <a:r>
                <a:rPr kumimoji="1" lang="ja-JP" altLang="en-US" sz="1400" b="1" u="sng" dirty="0">
                  <a:latin typeface="UD デジタル 教科書体 NK-R" panose="02020400000000000000" pitchFamily="18" charset="-128"/>
                  <a:ea typeface="UD デジタル 教科書体 NK-R" panose="02020400000000000000" pitchFamily="18" charset="-128"/>
                </a:rPr>
                <a:t>目的</a:t>
              </a:r>
            </a:p>
          </p:txBody>
        </p:sp>
        <p:sp>
          <p:nvSpPr>
            <p:cNvPr id="54" name="TextBox 53">
              <a:extLst>
                <a:ext uri="{FF2B5EF4-FFF2-40B4-BE49-F238E27FC236}">
                  <a16:creationId xmlns:a16="http://schemas.microsoft.com/office/drawing/2014/main" id="{A143EABD-A787-6823-5504-F554A859F438}"/>
                </a:ext>
              </a:extLst>
            </p:cNvPr>
            <p:cNvSpPr txBox="1"/>
            <p:nvPr/>
          </p:nvSpPr>
          <p:spPr>
            <a:xfrm>
              <a:off x="2178427" y="2592393"/>
              <a:ext cx="2030720" cy="307777"/>
            </a:xfrm>
            <a:prstGeom prst="rect">
              <a:avLst/>
            </a:prstGeom>
            <a:noFill/>
          </p:spPr>
          <p:txBody>
            <a:bodyPr wrap="square" rtlCol="0">
              <a:spAutoFit/>
            </a:bodyPr>
            <a:lstStyle/>
            <a:p>
              <a:pPr algn="ctr"/>
              <a:r>
                <a:rPr kumimoji="1" lang="ja-JP" altLang="en-US" sz="1400" b="1" u="sng" dirty="0">
                  <a:latin typeface="UD デジタル 教科書体 NK-R" panose="02020400000000000000" pitchFamily="18" charset="-128"/>
                  <a:ea typeface="UD デジタル 教科書体 NK-R" panose="02020400000000000000" pitchFamily="18" charset="-128"/>
                </a:rPr>
                <a:t>施策</a:t>
              </a:r>
            </a:p>
          </p:txBody>
        </p:sp>
        <p:sp>
          <p:nvSpPr>
            <p:cNvPr id="55" name="TextBox 54">
              <a:extLst>
                <a:ext uri="{FF2B5EF4-FFF2-40B4-BE49-F238E27FC236}">
                  <a16:creationId xmlns:a16="http://schemas.microsoft.com/office/drawing/2014/main" id="{43BAC80B-4D9D-6E1A-482A-DC72B9CB29DA}"/>
                </a:ext>
              </a:extLst>
            </p:cNvPr>
            <p:cNvSpPr txBox="1"/>
            <p:nvPr/>
          </p:nvSpPr>
          <p:spPr>
            <a:xfrm>
              <a:off x="4549292" y="2592393"/>
              <a:ext cx="1932585" cy="307777"/>
            </a:xfrm>
            <a:prstGeom prst="rect">
              <a:avLst/>
            </a:prstGeom>
            <a:noFill/>
          </p:spPr>
          <p:txBody>
            <a:bodyPr wrap="square" rtlCol="0">
              <a:spAutoFit/>
            </a:bodyPr>
            <a:lstStyle/>
            <a:p>
              <a:pPr algn="ctr"/>
              <a:r>
                <a:rPr kumimoji="1" lang="ja-JP" altLang="en-US" sz="1400" b="1" u="sng" dirty="0">
                  <a:latin typeface="UD デジタル 教科書体 NK-R" panose="02020400000000000000" pitchFamily="18" charset="-128"/>
                  <a:ea typeface="UD デジタル 教科書体 NK-R" panose="02020400000000000000" pitchFamily="18" charset="-128"/>
                </a:rPr>
                <a:t>分析</a:t>
              </a:r>
            </a:p>
          </p:txBody>
        </p:sp>
        <p:sp>
          <p:nvSpPr>
            <p:cNvPr id="70" name="TextBox 69">
              <a:extLst>
                <a:ext uri="{FF2B5EF4-FFF2-40B4-BE49-F238E27FC236}">
                  <a16:creationId xmlns:a16="http://schemas.microsoft.com/office/drawing/2014/main" id="{62C5ACD1-AF0B-8515-451D-9D20AABD895C}"/>
                </a:ext>
              </a:extLst>
            </p:cNvPr>
            <p:cNvSpPr txBox="1"/>
            <p:nvPr/>
          </p:nvSpPr>
          <p:spPr>
            <a:xfrm>
              <a:off x="4521620" y="3347688"/>
              <a:ext cx="5111902" cy="485495"/>
            </a:xfrm>
            <a:prstGeom prst="rect">
              <a:avLst/>
            </a:prstGeom>
            <a:solidFill>
              <a:schemeClr val="accent1">
                <a:lumMod val="20000"/>
                <a:lumOff val="80000"/>
              </a:schemeClr>
            </a:solidFill>
          </p:spPr>
          <p:txBody>
            <a:bodyPr wrap="square">
              <a:spAutoFit/>
            </a:bodyPr>
            <a:lstStyle/>
            <a:p>
              <a:r>
                <a:rPr lang="ja-JP" altLang="en-US" sz="1100" dirty="0">
                  <a:latin typeface="UD デジタル 教科書体 NK-R" panose="02020400000000000000" pitchFamily="18" charset="-128"/>
                  <a:ea typeface="UD デジタル 教科書体 NK-R" panose="02020400000000000000" pitchFamily="18" charset="-128"/>
                </a:rPr>
                <a:t>1. 全域を対象に、年帯別に、人が多く来ている場所を抽出</a:t>
              </a:r>
            </a:p>
            <a:p>
              <a:r>
                <a:rPr lang="en-US" altLang="ja-JP" sz="1100" dirty="0">
                  <a:latin typeface="UD デジタル 教科書体 NK-R" panose="02020400000000000000" pitchFamily="18" charset="-128"/>
                  <a:ea typeface="UD デジタル 教科書体 NK-R" panose="02020400000000000000" pitchFamily="18" charset="-128"/>
                </a:rPr>
                <a:t>2.</a:t>
              </a:r>
              <a:r>
                <a:rPr lang="ja-JP" altLang="en-US" sz="1100" dirty="0">
                  <a:latin typeface="UD デジタル 教科書体 NK-R" panose="02020400000000000000" pitchFamily="18" charset="-128"/>
                  <a:ea typeface="UD デジタル 教科書体 NK-R" panose="02020400000000000000" pitchFamily="18" charset="-128"/>
                </a:rPr>
                <a:t> 来訪者数の特徴から拠点を特定</a:t>
              </a:r>
              <a:endParaRPr lang="en-US" altLang="ja-JP" sz="1100" dirty="0">
                <a:latin typeface="UD デジタル 教科書体 NK-R" panose="02020400000000000000" pitchFamily="18" charset="-128"/>
                <a:ea typeface="UD デジタル 教科書体 NK-R" panose="02020400000000000000" pitchFamily="18" charset="-128"/>
              </a:endParaRPr>
            </a:p>
          </p:txBody>
        </p:sp>
        <p:sp>
          <p:nvSpPr>
            <p:cNvPr id="71" name="TextBox 70">
              <a:extLst>
                <a:ext uri="{FF2B5EF4-FFF2-40B4-BE49-F238E27FC236}">
                  <a16:creationId xmlns:a16="http://schemas.microsoft.com/office/drawing/2014/main" id="{9F318488-7EF3-B629-56AA-5BE90D48687B}"/>
                </a:ext>
              </a:extLst>
            </p:cNvPr>
            <p:cNvSpPr txBox="1"/>
            <p:nvPr/>
          </p:nvSpPr>
          <p:spPr>
            <a:xfrm>
              <a:off x="4521620" y="4241401"/>
              <a:ext cx="5111901" cy="485495"/>
            </a:xfrm>
            <a:prstGeom prst="rect">
              <a:avLst/>
            </a:prstGeom>
            <a:solidFill>
              <a:schemeClr val="accent1">
                <a:lumMod val="20000"/>
                <a:lumOff val="80000"/>
              </a:schemeClr>
            </a:solidFill>
          </p:spPr>
          <p:txBody>
            <a:bodyPr wrap="square">
              <a:spAutoFit/>
            </a:bodyPr>
            <a:lstStyle/>
            <a:p>
              <a:r>
                <a:rPr lang="en-US" altLang="ja-JP" sz="1100" dirty="0">
                  <a:latin typeface="UD デジタル 教科書体 NK-R" panose="02020400000000000000" pitchFamily="18" charset="-128"/>
                  <a:ea typeface="UD デジタル 教科書体 NK-R" panose="02020400000000000000" pitchFamily="18" charset="-128"/>
                </a:rPr>
                <a:t>1. </a:t>
              </a:r>
              <a:r>
                <a:rPr lang="ja-JP" altLang="en-US" sz="1100" dirty="0">
                  <a:latin typeface="UD デジタル 教科書体 NK-R" panose="02020400000000000000" pitchFamily="18" charset="-128"/>
                  <a:ea typeface="UD デジタル 教科書体 NK-R" panose="02020400000000000000" pitchFamily="18" charset="-128"/>
                </a:rPr>
                <a:t>拠点への移動の時間帯や出発地から、移動者の特徴（通勤、通学、買物）を想定</a:t>
              </a:r>
            </a:p>
            <a:p>
              <a:r>
                <a:rPr lang="en-US" altLang="ja-JP" sz="1100" dirty="0">
                  <a:latin typeface="UD デジタル 教科書体 NK-R" panose="02020400000000000000" pitchFamily="18" charset="-128"/>
                  <a:ea typeface="UD デジタル 教科書体 NK-R" panose="02020400000000000000" pitchFamily="18" charset="-128"/>
                </a:rPr>
                <a:t>2. </a:t>
              </a:r>
              <a:r>
                <a:rPr lang="ja-JP" altLang="en-US" sz="1100" dirty="0">
                  <a:latin typeface="UD デジタル 教科書体 NK-R" panose="02020400000000000000" pitchFamily="18" charset="-128"/>
                  <a:ea typeface="UD デジタル 教科書体 NK-R" panose="02020400000000000000" pitchFamily="18" charset="-128"/>
                </a:rPr>
                <a:t>主な移動とバス路線とを重ね、拠点へ接続する路線案を提案</a:t>
              </a:r>
              <a:endParaRPr lang="en-US" altLang="ja-JP" sz="1100" dirty="0">
                <a:latin typeface="UD デジタル 教科書体 NK-R" panose="02020400000000000000" pitchFamily="18" charset="-128"/>
                <a:ea typeface="UD デジタル 教科書体 NK-R" panose="02020400000000000000" pitchFamily="18" charset="-128"/>
              </a:endParaRPr>
            </a:p>
          </p:txBody>
        </p:sp>
        <p:sp>
          <p:nvSpPr>
            <p:cNvPr id="72" name="TextBox 71">
              <a:extLst>
                <a:ext uri="{FF2B5EF4-FFF2-40B4-BE49-F238E27FC236}">
                  <a16:creationId xmlns:a16="http://schemas.microsoft.com/office/drawing/2014/main" id="{22054ACF-44DF-D447-786F-5D8B3638D6E8}"/>
                </a:ext>
              </a:extLst>
            </p:cNvPr>
            <p:cNvSpPr txBox="1"/>
            <p:nvPr/>
          </p:nvSpPr>
          <p:spPr>
            <a:xfrm>
              <a:off x="4521620" y="5155677"/>
              <a:ext cx="5111900" cy="485495"/>
            </a:xfrm>
            <a:prstGeom prst="rect">
              <a:avLst/>
            </a:prstGeom>
            <a:solidFill>
              <a:schemeClr val="accent1">
                <a:lumMod val="20000"/>
                <a:lumOff val="80000"/>
              </a:schemeClr>
            </a:solidFill>
          </p:spPr>
          <p:txBody>
            <a:bodyPr wrap="square">
              <a:spAutoFit/>
            </a:bodyPr>
            <a:lstStyle/>
            <a:p>
              <a:r>
                <a:rPr lang="en-US" altLang="ja-JP" sz="1100" dirty="0">
                  <a:latin typeface="UD デジタル 教科書体 NK-R" panose="02020400000000000000" pitchFamily="18" charset="-128"/>
                  <a:ea typeface="UD デジタル 教科書体 NK-R" panose="02020400000000000000" pitchFamily="18" charset="-128"/>
                </a:rPr>
                <a:t>1</a:t>
              </a:r>
              <a:r>
                <a:rPr lang="ja-JP" altLang="en-US" sz="1100" dirty="0">
                  <a:latin typeface="UD デジタル 教科書体 NK-R" panose="02020400000000000000" pitchFamily="18" charset="-128"/>
                  <a:ea typeface="UD デジタル 教科書体 NK-R" panose="02020400000000000000" pitchFamily="18" charset="-128"/>
                </a:rPr>
                <a:t>. 拠点周辺の滞在分析を行い、滞在時間の特徴から、利用者像を整理</a:t>
              </a:r>
              <a:endParaRPr lang="en-US" altLang="ja-JP" sz="1100" dirty="0">
                <a:latin typeface="UD デジタル 教科書体 NK-R" panose="02020400000000000000" pitchFamily="18" charset="-128"/>
                <a:ea typeface="UD デジタル 教科書体 NK-R" panose="02020400000000000000" pitchFamily="18" charset="-128"/>
              </a:endParaRPr>
            </a:p>
            <a:p>
              <a:r>
                <a:rPr lang="en-US" altLang="ja-JP" sz="1100" dirty="0">
                  <a:latin typeface="UD デジタル 教科書体 NK-R" panose="02020400000000000000" pitchFamily="18" charset="-128"/>
                  <a:ea typeface="UD デジタル 教科書体 NK-R" panose="02020400000000000000" pitchFamily="18" charset="-128"/>
                </a:rPr>
                <a:t>2</a:t>
              </a:r>
              <a:r>
                <a:rPr lang="ja-JP" altLang="en-US" sz="1100" dirty="0">
                  <a:latin typeface="UD デジタル 教科書体 NK-R" panose="02020400000000000000" pitchFamily="18" charset="-128"/>
                  <a:ea typeface="UD デジタル 教科書体 NK-R" panose="02020400000000000000" pitchFamily="18" charset="-128"/>
                </a:rPr>
                <a:t>. 利用者像のニーズに応じた運行時間や運行間隔を提案。</a:t>
              </a:r>
            </a:p>
          </p:txBody>
        </p:sp>
        <p:sp>
          <p:nvSpPr>
            <p:cNvPr id="73" name="TextBox 72">
              <a:extLst>
                <a:ext uri="{FF2B5EF4-FFF2-40B4-BE49-F238E27FC236}">
                  <a16:creationId xmlns:a16="http://schemas.microsoft.com/office/drawing/2014/main" id="{C4A5E12B-7B58-4B08-C329-E1ABD104AF69}"/>
                </a:ext>
              </a:extLst>
            </p:cNvPr>
            <p:cNvSpPr txBox="1"/>
            <p:nvPr/>
          </p:nvSpPr>
          <p:spPr>
            <a:xfrm>
              <a:off x="4521621" y="6084633"/>
              <a:ext cx="5111898" cy="485495"/>
            </a:xfrm>
            <a:prstGeom prst="rect">
              <a:avLst/>
            </a:prstGeom>
            <a:solidFill>
              <a:schemeClr val="accent1">
                <a:lumMod val="20000"/>
                <a:lumOff val="80000"/>
              </a:schemeClr>
            </a:solidFill>
          </p:spPr>
          <p:txBody>
            <a:bodyPr wrap="square">
              <a:spAutoFit/>
            </a:bodyPr>
            <a:lstStyle/>
            <a:p>
              <a:r>
                <a:rPr lang="en-US" altLang="ja-JP" sz="1100" dirty="0">
                  <a:latin typeface="UD デジタル 教科書体 NK-R" panose="02020400000000000000" pitchFamily="18" charset="-128"/>
                  <a:ea typeface="UD デジタル 教科書体 NK-R" panose="02020400000000000000" pitchFamily="18" charset="-128"/>
                </a:rPr>
                <a:t>1</a:t>
              </a:r>
              <a:r>
                <a:rPr lang="ja-JP" altLang="en-US" sz="1100" dirty="0">
                  <a:latin typeface="UD デジタル 教科書体 NK-R" panose="02020400000000000000" pitchFamily="18" charset="-128"/>
                  <a:ea typeface="UD デジタル 教科書体 NK-R" panose="02020400000000000000" pitchFamily="18" charset="-128"/>
                </a:rPr>
                <a:t>. 拠点の外側のエリアに関し、移動傾向分析を行い、主な</a:t>
              </a:r>
              <a:r>
                <a:rPr lang="en-US" altLang="ja-JP" sz="1100" dirty="0">
                  <a:latin typeface="UD デジタル 教科書体 NK-R" panose="02020400000000000000" pitchFamily="18" charset="-128"/>
                  <a:ea typeface="UD デジタル 教科書体 NK-R" panose="02020400000000000000" pitchFamily="18" charset="-128"/>
                </a:rPr>
                <a:t>OD</a:t>
              </a:r>
              <a:r>
                <a:rPr lang="ja-JP" altLang="en-US" sz="1100" dirty="0">
                  <a:latin typeface="UD デジタル 教科書体 NK-R" panose="02020400000000000000" pitchFamily="18" charset="-128"/>
                  <a:ea typeface="UD デジタル 教科書体 NK-R" panose="02020400000000000000" pitchFamily="18" charset="-128"/>
                </a:rPr>
                <a:t>を特定</a:t>
              </a:r>
            </a:p>
            <a:p>
              <a:r>
                <a:rPr lang="en-US" altLang="ja-JP" sz="1100" dirty="0">
                  <a:latin typeface="UD デジタル 教科書体 NK-R" panose="02020400000000000000" pitchFamily="18" charset="-128"/>
                  <a:ea typeface="UD デジタル 教科書体 NK-R" panose="02020400000000000000" pitchFamily="18" charset="-128"/>
                </a:rPr>
                <a:t>2. </a:t>
              </a:r>
              <a:r>
                <a:rPr lang="ja-JP" altLang="en-US" sz="1100" dirty="0">
                  <a:latin typeface="UD デジタル 教科書体 NK-R" panose="02020400000000000000" pitchFamily="18" charset="-128"/>
                  <a:ea typeface="UD デジタル 教科書体 NK-R" panose="02020400000000000000" pitchFamily="18" charset="-128"/>
                </a:rPr>
                <a:t>主なODとバス路線とを重ね、路線変更案を提案</a:t>
              </a:r>
              <a:endParaRPr lang="en-US" altLang="ja-JP" sz="1100" dirty="0">
                <a:latin typeface="UD デジタル 教科書体 NK-R" panose="02020400000000000000" pitchFamily="18" charset="-128"/>
                <a:ea typeface="UD デジタル 教科書体 NK-R" panose="02020400000000000000" pitchFamily="18" charset="-128"/>
              </a:endParaRPr>
            </a:p>
          </p:txBody>
        </p:sp>
      </p:grpSp>
    </p:spTree>
    <p:extLst>
      <p:ext uri="{BB962C8B-B14F-4D97-AF65-F5344CB8AC3E}">
        <p14:creationId xmlns:p14="http://schemas.microsoft.com/office/powerpoint/2010/main" val="229131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EE695-54F4-2600-E9EB-A6777A9B6EF9}"/>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2DAED7B4-05A9-F941-98BC-913AC020BD99}"/>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E3C7FCB-8534-27B1-5D8D-0677EE110002}"/>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２</a:t>
            </a:r>
          </a:p>
        </p:txBody>
      </p:sp>
      <p:sp>
        <p:nvSpPr>
          <p:cNvPr id="8" name="テキスト ボックス 7">
            <a:extLst>
              <a:ext uri="{FF2B5EF4-FFF2-40B4-BE49-F238E27FC236}">
                <a16:creationId xmlns:a16="http://schemas.microsoft.com/office/drawing/2014/main" id="{51E32490-5418-D817-59DA-01B904D41597}"/>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人流データ分析レポート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18" name="スライド番号プレースホルダー 17">
            <a:extLst>
              <a:ext uri="{FF2B5EF4-FFF2-40B4-BE49-F238E27FC236}">
                <a16:creationId xmlns:a16="http://schemas.microsoft.com/office/drawing/2014/main" id="{7E6A50EB-8B9B-EF55-696B-CA1248032518}"/>
              </a:ext>
            </a:extLst>
          </p:cNvPr>
          <p:cNvSpPr>
            <a:spLocks noGrp="1"/>
          </p:cNvSpPr>
          <p:nvPr>
            <p:ph type="sldNum" sz="quarter" idx="12"/>
          </p:nvPr>
        </p:nvSpPr>
        <p:spPr/>
        <p:txBody>
          <a:bodyPr/>
          <a:lstStyle/>
          <a:p>
            <a:fld id="{D79996DE-FBD2-443E-AEB9-D5C563058B9B}" type="slidenum">
              <a:rPr kumimoji="1" lang="ja-JP" altLang="en-US" smtClean="0"/>
              <a:t>5</a:t>
            </a:fld>
            <a:endParaRPr kumimoji="1" lang="ja-JP" altLang="en-US"/>
          </a:p>
        </p:txBody>
      </p:sp>
      <p:sp>
        <p:nvSpPr>
          <p:cNvPr id="4" name="TextBox 6">
            <a:extLst>
              <a:ext uri="{FF2B5EF4-FFF2-40B4-BE49-F238E27FC236}">
                <a16:creationId xmlns:a16="http://schemas.microsoft.com/office/drawing/2014/main" id="{B202931C-E3BA-FDBF-7CCD-66CA2200BD5C}"/>
              </a:ext>
            </a:extLst>
          </p:cNvPr>
          <p:cNvSpPr txBox="1"/>
          <p:nvPr/>
        </p:nvSpPr>
        <p:spPr>
          <a:xfrm>
            <a:off x="280256" y="2128496"/>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分析対象</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平日</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自動車、バス、鉄道、自転車</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2" name="TextBox 6">
            <a:extLst>
              <a:ext uri="{FF2B5EF4-FFF2-40B4-BE49-F238E27FC236}">
                <a16:creationId xmlns:a16="http://schemas.microsoft.com/office/drawing/2014/main" id="{F374751B-9BAD-5590-9205-96EA20F92D86}"/>
              </a:ext>
            </a:extLst>
          </p:cNvPr>
          <p:cNvSpPr txBox="1"/>
          <p:nvPr/>
        </p:nvSpPr>
        <p:spPr>
          <a:xfrm>
            <a:off x="280256" y="1225277"/>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分析条件</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180975"/>
            <a:r>
              <a:rPr lang="ja-JP" altLang="en-US" sz="1400" dirty="0">
                <a:latin typeface="UD デジタル 教科書体 NK-R" panose="02020400000000000000" pitchFamily="18" charset="-128"/>
                <a:ea typeface="UD デジタル 教科書体 NK-R" panose="02020400000000000000" pitchFamily="18" charset="-128"/>
              </a:rPr>
              <a:t>1. 全域を対象に、年帯別に、人が多く来ている場所を抽出</a:t>
            </a:r>
          </a:p>
          <a:p>
            <a:pPr marL="180975"/>
            <a:r>
              <a:rPr lang="en-US" altLang="ja-JP" sz="1400" dirty="0">
                <a:latin typeface="UD デジタル 教科書体 NK-R" panose="02020400000000000000" pitchFamily="18" charset="-128"/>
                <a:ea typeface="UD デジタル 教科書体 NK-R" panose="02020400000000000000" pitchFamily="18" charset="-128"/>
              </a:rPr>
              <a:t>2.</a:t>
            </a:r>
            <a:r>
              <a:rPr lang="ja-JP" altLang="en-US" sz="1400" dirty="0">
                <a:latin typeface="UD デジタル 教科書体 NK-R" panose="02020400000000000000" pitchFamily="18" charset="-128"/>
                <a:ea typeface="UD デジタル 教科書体 NK-R" panose="02020400000000000000" pitchFamily="18" charset="-128"/>
              </a:rPr>
              <a:t> 来訪者数の特徴から拠点を特定</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9" name="TextBox 6">
            <a:extLst>
              <a:ext uri="{FF2B5EF4-FFF2-40B4-BE49-F238E27FC236}">
                <a16:creationId xmlns:a16="http://schemas.microsoft.com/office/drawing/2014/main" id="{266EC31F-BDE1-7A96-B656-3C88E1FE9CF4}"/>
              </a:ext>
            </a:extLst>
          </p:cNvPr>
          <p:cNvSpPr txBox="1"/>
          <p:nvPr/>
        </p:nvSpPr>
        <p:spPr>
          <a:xfrm>
            <a:off x="280256" y="3031715"/>
            <a:ext cx="9281256" cy="2246769"/>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分析結果</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１．移動の多いエリア</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447675"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２．来訪者（到着）の傾向</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447675"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３．拠点の特定</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266700"/>
            <a:r>
              <a:rPr kumimoji="1" lang="ja-JP" altLang="en-US" sz="1400" dirty="0">
                <a:latin typeface="UD デジタル 教科書体 NK-R" panose="02020400000000000000" pitchFamily="18" charset="-128"/>
                <a:ea typeface="UD デジタル 教科書体 NK-R" panose="02020400000000000000" pitchFamily="18" charset="-128"/>
              </a:rPr>
              <a:t>中心拠点：・・・</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266700"/>
            <a:r>
              <a:rPr kumimoji="1" lang="ja-JP" altLang="en-US" sz="1400" dirty="0">
                <a:latin typeface="UD デジタル 教科書体 NK-R" panose="02020400000000000000" pitchFamily="18" charset="-128"/>
                <a:ea typeface="UD デジタル 教科書体 NK-R" panose="02020400000000000000" pitchFamily="18" charset="-128"/>
              </a:rPr>
              <a:t>周辺拠点：・・・</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10" name="テキスト ボックス 7">
            <a:extLst>
              <a:ext uri="{FF2B5EF4-FFF2-40B4-BE49-F238E27FC236}">
                <a16:creationId xmlns:a16="http://schemas.microsoft.com/office/drawing/2014/main" id="{40281452-240C-8A1C-E9D2-C7CBE0D14C42}"/>
              </a:ext>
            </a:extLst>
          </p:cNvPr>
          <p:cNvSpPr txBox="1"/>
          <p:nvPr/>
        </p:nvSpPr>
        <p:spPr>
          <a:xfrm>
            <a:off x="128464" y="739259"/>
            <a:ext cx="9121704" cy="369332"/>
          </a:xfrm>
          <a:prstGeom prst="rect">
            <a:avLst/>
          </a:prstGeom>
          <a:noFill/>
        </p:spPr>
        <p:txBody>
          <a:bodyPr wrap="square" rtlCol="0">
            <a:spAutoFit/>
          </a:bodyPr>
          <a:lstStyle/>
          <a:p>
            <a:r>
              <a:rPr kumimoji="1" lang="ja-JP" altLang="en-US" dirty="0">
                <a:latin typeface="UD デジタル 教科書体 NK-R" panose="02020400000000000000" pitchFamily="18" charset="-128"/>
                <a:ea typeface="UD デジタル 教科書体 NK-R" panose="02020400000000000000" pitchFamily="18" charset="-128"/>
              </a:rPr>
              <a:t>（１）拠点間の連絡　１）来訪者分析</a:t>
            </a:r>
          </a:p>
        </p:txBody>
      </p:sp>
      <p:grpSp>
        <p:nvGrpSpPr>
          <p:cNvPr id="11" name="Group 10">
            <a:extLst>
              <a:ext uri="{FF2B5EF4-FFF2-40B4-BE49-F238E27FC236}">
                <a16:creationId xmlns:a16="http://schemas.microsoft.com/office/drawing/2014/main" id="{A9A88FBE-6B99-DA6F-4202-A016B6188290}"/>
              </a:ext>
            </a:extLst>
          </p:cNvPr>
          <p:cNvGrpSpPr/>
          <p:nvPr/>
        </p:nvGrpSpPr>
        <p:grpSpPr>
          <a:xfrm>
            <a:off x="5241032" y="4768366"/>
            <a:ext cx="4551352" cy="1724511"/>
            <a:chOff x="273558" y="3101659"/>
            <a:chExt cx="9431970" cy="3573780"/>
          </a:xfrm>
        </p:grpSpPr>
        <p:pic>
          <p:nvPicPr>
            <p:cNvPr id="3" name="Picture 2">
              <a:extLst>
                <a:ext uri="{FF2B5EF4-FFF2-40B4-BE49-F238E27FC236}">
                  <a16:creationId xmlns:a16="http://schemas.microsoft.com/office/drawing/2014/main" id="{47DCA904-FBB0-7BF0-A9BD-983FFE8E168B}"/>
                </a:ext>
              </a:extLst>
            </p:cNvPr>
            <p:cNvPicPr>
              <a:picLocks noChangeAspect="1"/>
            </p:cNvPicPr>
            <p:nvPr/>
          </p:nvPicPr>
          <p:blipFill>
            <a:blip r:embed="rId2"/>
            <a:stretch>
              <a:fillRect/>
            </a:stretch>
          </p:blipFill>
          <p:spPr>
            <a:xfrm>
              <a:off x="273558" y="3101659"/>
              <a:ext cx="9358884" cy="3573780"/>
            </a:xfrm>
            <a:prstGeom prst="rect">
              <a:avLst/>
            </a:prstGeom>
          </p:spPr>
        </p:pic>
        <p:sp>
          <p:nvSpPr>
            <p:cNvPr id="7" name="Rectangle 6">
              <a:extLst>
                <a:ext uri="{FF2B5EF4-FFF2-40B4-BE49-F238E27FC236}">
                  <a16:creationId xmlns:a16="http://schemas.microsoft.com/office/drawing/2014/main" id="{05F9140C-9891-8F1D-E67A-946B5DFF7083}"/>
                </a:ext>
              </a:extLst>
            </p:cNvPr>
            <p:cNvSpPr/>
            <p:nvPr/>
          </p:nvSpPr>
          <p:spPr>
            <a:xfrm>
              <a:off x="4451869" y="3356993"/>
              <a:ext cx="5253659" cy="8894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424729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0E8AA-0C9D-1AE1-89D0-2E189E94FB99}"/>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8D66B90-09AA-F483-62F2-1913CF77C85C}"/>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2EFFBA2C-CBE8-69DC-925A-C010C9CF1EDD}"/>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２</a:t>
            </a:r>
          </a:p>
        </p:txBody>
      </p:sp>
      <p:sp>
        <p:nvSpPr>
          <p:cNvPr id="8" name="テキスト ボックス 7">
            <a:extLst>
              <a:ext uri="{FF2B5EF4-FFF2-40B4-BE49-F238E27FC236}">
                <a16:creationId xmlns:a16="http://schemas.microsoft.com/office/drawing/2014/main" id="{D903AF17-3C48-23CF-9600-37AAC19EAB38}"/>
              </a:ext>
            </a:extLst>
          </p:cNvPr>
          <p:cNvSpPr txBox="1"/>
          <p:nvPr/>
        </p:nvSpPr>
        <p:spPr>
          <a:xfrm>
            <a:off x="128464" y="766550"/>
            <a:ext cx="9121704" cy="369332"/>
          </a:xfrm>
          <a:prstGeom prst="rect">
            <a:avLst/>
          </a:prstGeom>
          <a:noFill/>
        </p:spPr>
        <p:txBody>
          <a:bodyPr wrap="square" rtlCol="0">
            <a:spAutoFit/>
          </a:bodyPr>
          <a:lstStyle/>
          <a:p>
            <a:r>
              <a:rPr kumimoji="1" lang="ja-JP" altLang="en-US" dirty="0">
                <a:latin typeface="UD デジタル 教科書体 NK-R" panose="02020400000000000000" pitchFamily="18" charset="-128"/>
                <a:ea typeface="UD デジタル 教科書体 NK-R" panose="02020400000000000000" pitchFamily="18" charset="-128"/>
              </a:rPr>
              <a:t>（１）拠点間の連絡　２）</a:t>
            </a:r>
            <a:r>
              <a:rPr kumimoji="1" lang="zh-TW" altLang="en-US" dirty="0">
                <a:latin typeface="UD デジタル 教科書体 NK-R" panose="02020400000000000000" pitchFamily="18" charset="-128"/>
                <a:ea typeface="UD デジタル 教科書体 NK-R" panose="02020400000000000000" pitchFamily="18" charset="-128"/>
              </a:rPr>
              <a:t>移動傾向（</a:t>
            </a:r>
            <a:r>
              <a:rPr kumimoji="1" lang="en-US" altLang="zh-TW" dirty="0">
                <a:latin typeface="UD デジタル 教科書体 NK-R" panose="02020400000000000000" pitchFamily="18" charset="-128"/>
                <a:ea typeface="UD デジタル 教科書体 NK-R" panose="02020400000000000000" pitchFamily="18" charset="-128"/>
              </a:rPr>
              <a:t>OD</a:t>
            </a:r>
            <a:r>
              <a:rPr kumimoji="1" lang="zh-TW" altLang="en-US" dirty="0">
                <a:latin typeface="UD デジタル 教科書体 NK-R" panose="02020400000000000000" pitchFamily="18" charset="-128"/>
                <a:ea typeface="UD デジタル 教科書体 NK-R" panose="02020400000000000000" pitchFamily="18" charset="-128"/>
              </a:rPr>
              <a:t>）分析</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07245674-C1FB-918E-B102-138CB63FC135}"/>
              </a:ext>
            </a:extLst>
          </p:cNvPr>
          <p:cNvSpPr>
            <a:spLocks noGrp="1"/>
          </p:cNvSpPr>
          <p:nvPr>
            <p:ph type="sldNum" sz="quarter" idx="12"/>
          </p:nvPr>
        </p:nvSpPr>
        <p:spPr/>
        <p:txBody>
          <a:bodyPr/>
          <a:lstStyle/>
          <a:p>
            <a:fld id="{D79996DE-FBD2-443E-AEB9-D5C563058B9B}" type="slidenum">
              <a:rPr kumimoji="1" lang="ja-JP" altLang="en-US" smtClean="0"/>
              <a:t>6</a:t>
            </a:fld>
            <a:endParaRPr kumimoji="1" lang="ja-JP" altLang="en-US"/>
          </a:p>
        </p:txBody>
      </p:sp>
      <p:sp>
        <p:nvSpPr>
          <p:cNvPr id="7" name="テキスト ボックス 7">
            <a:extLst>
              <a:ext uri="{FF2B5EF4-FFF2-40B4-BE49-F238E27FC236}">
                <a16:creationId xmlns:a16="http://schemas.microsoft.com/office/drawing/2014/main" id="{BB687C22-DE8F-FE0D-B4CB-3801A098AB33}"/>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人流データ分析レポート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3" name="TextBox 6">
            <a:extLst>
              <a:ext uri="{FF2B5EF4-FFF2-40B4-BE49-F238E27FC236}">
                <a16:creationId xmlns:a16="http://schemas.microsoft.com/office/drawing/2014/main" id="{8AAF6C0C-440C-ED03-DF6D-E93B2672FF8F}"/>
              </a:ext>
            </a:extLst>
          </p:cNvPr>
          <p:cNvSpPr txBox="1"/>
          <p:nvPr/>
        </p:nvSpPr>
        <p:spPr>
          <a:xfrm>
            <a:off x="280256" y="2128496"/>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分析対象</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平日</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自動車、バス、鉄道、自転車</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10" name="TextBox 6">
            <a:extLst>
              <a:ext uri="{FF2B5EF4-FFF2-40B4-BE49-F238E27FC236}">
                <a16:creationId xmlns:a16="http://schemas.microsoft.com/office/drawing/2014/main" id="{3D12B409-BAA5-EC31-1AED-84C4B352CE3F}"/>
              </a:ext>
            </a:extLst>
          </p:cNvPr>
          <p:cNvSpPr txBox="1"/>
          <p:nvPr/>
        </p:nvSpPr>
        <p:spPr>
          <a:xfrm>
            <a:off x="280256" y="1225277"/>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分析条件</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180975"/>
            <a:r>
              <a:rPr lang="en-US" altLang="ja-JP" sz="1400" dirty="0">
                <a:latin typeface="UD デジタル 教科書体 NK-R" panose="02020400000000000000" pitchFamily="18" charset="-128"/>
                <a:ea typeface="UD デジタル 教科書体 NK-R" panose="02020400000000000000" pitchFamily="18" charset="-128"/>
              </a:rPr>
              <a:t>1. </a:t>
            </a:r>
            <a:r>
              <a:rPr lang="ja-JP" altLang="en-US" sz="1400" dirty="0">
                <a:latin typeface="UD デジタル 教科書体 NK-R" panose="02020400000000000000" pitchFamily="18" charset="-128"/>
                <a:ea typeface="UD デジタル 教科書体 NK-R" panose="02020400000000000000" pitchFamily="18" charset="-128"/>
              </a:rPr>
              <a:t>拠点への移動の時間帯や出発地から、移動者の特徴（通勤、通学、買物）を想定</a:t>
            </a:r>
          </a:p>
          <a:p>
            <a:pPr marL="180975"/>
            <a:r>
              <a:rPr lang="en-US" altLang="ja-JP" sz="1400" dirty="0">
                <a:latin typeface="UD デジタル 教科書体 NK-R" panose="02020400000000000000" pitchFamily="18" charset="-128"/>
                <a:ea typeface="UD デジタル 教科書体 NK-R" panose="02020400000000000000" pitchFamily="18" charset="-128"/>
              </a:rPr>
              <a:t>2. </a:t>
            </a:r>
            <a:r>
              <a:rPr lang="ja-JP" altLang="en-US" sz="1400" dirty="0">
                <a:latin typeface="UD デジタル 教科書体 NK-R" panose="02020400000000000000" pitchFamily="18" charset="-128"/>
                <a:ea typeface="UD デジタル 教科書体 NK-R" panose="02020400000000000000" pitchFamily="18" charset="-128"/>
              </a:rPr>
              <a:t>主な移動とバス路線とを重ね、拠点へ接続する路線案を提案</a:t>
            </a:r>
          </a:p>
        </p:txBody>
      </p:sp>
      <p:sp>
        <p:nvSpPr>
          <p:cNvPr id="11" name="TextBox 6">
            <a:extLst>
              <a:ext uri="{FF2B5EF4-FFF2-40B4-BE49-F238E27FC236}">
                <a16:creationId xmlns:a16="http://schemas.microsoft.com/office/drawing/2014/main" id="{047342A8-B380-5AD8-46C0-E1A76993C532}"/>
              </a:ext>
            </a:extLst>
          </p:cNvPr>
          <p:cNvSpPr txBox="1"/>
          <p:nvPr/>
        </p:nvSpPr>
        <p:spPr>
          <a:xfrm>
            <a:off x="280256" y="3031715"/>
            <a:ext cx="9281256" cy="1600438"/>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分析結果</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１．</a:t>
            </a:r>
            <a:r>
              <a:rPr lang="ja-JP" altLang="en-US" sz="1400" dirty="0">
                <a:latin typeface="UD デジタル 教科書体 NK-R" panose="02020400000000000000" pitchFamily="18" charset="-128"/>
                <a:ea typeface="UD デジタル 教科書体 NK-R" panose="02020400000000000000" pitchFamily="18" charset="-128"/>
              </a:rPr>
              <a:t>移動者の特徴</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447675"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中心拠点：・・・</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２．拠点への路線案</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需要エリアと拠点エリアとを接続する路線：・・・</a:t>
            </a:r>
          </a:p>
          <a:p>
            <a:pPr indent="180975"/>
            <a:endParaRPr kumimoji="1" lang="ja-JP" altLang="en-US" sz="1400" dirty="0">
              <a:latin typeface="UD デジタル 教科書体 NK-R" panose="02020400000000000000" pitchFamily="18" charset="-128"/>
              <a:ea typeface="UD デジタル 教科書体 NK-R" panose="02020400000000000000" pitchFamily="18" charset="-128"/>
            </a:endParaRPr>
          </a:p>
        </p:txBody>
      </p:sp>
      <p:grpSp>
        <p:nvGrpSpPr>
          <p:cNvPr id="2" name="Group 1">
            <a:extLst>
              <a:ext uri="{FF2B5EF4-FFF2-40B4-BE49-F238E27FC236}">
                <a16:creationId xmlns:a16="http://schemas.microsoft.com/office/drawing/2014/main" id="{A112D1AC-E65F-55D2-7F53-A307555926CF}"/>
              </a:ext>
            </a:extLst>
          </p:cNvPr>
          <p:cNvGrpSpPr/>
          <p:nvPr/>
        </p:nvGrpSpPr>
        <p:grpSpPr>
          <a:xfrm>
            <a:off x="5241032" y="4632153"/>
            <a:ext cx="4551352" cy="1724511"/>
            <a:chOff x="273558" y="3101659"/>
            <a:chExt cx="9431970" cy="3573780"/>
          </a:xfrm>
        </p:grpSpPr>
        <p:pic>
          <p:nvPicPr>
            <p:cNvPr id="4" name="Picture 3">
              <a:extLst>
                <a:ext uri="{FF2B5EF4-FFF2-40B4-BE49-F238E27FC236}">
                  <a16:creationId xmlns:a16="http://schemas.microsoft.com/office/drawing/2014/main" id="{C7F39035-9304-B742-B0F0-C1A9BB8B8FCE}"/>
                </a:ext>
              </a:extLst>
            </p:cNvPr>
            <p:cNvPicPr>
              <a:picLocks noChangeAspect="1"/>
            </p:cNvPicPr>
            <p:nvPr/>
          </p:nvPicPr>
          <p:blipFill>
            <a:blip r:embed="rId2"/>
            <a:stretch>
              <a:fillRect/>
            </a:stretch>
          </p:blipFill>
          <p:spPr>
            <a:xfrm>
              <a:off x="273558" y="3101659"/>
              <a:ext cx="9358884" cy="3573780"/>
            </a:xfrm>
            <a:prstGeom prst="rect">
              <a:avLst/>
            </a:prstGeom>
          </p:spPr>
        </p:pic>
        <p:sp>
          <p:nvSpPr>
            <p:cNvPr id="9" name="Rectangle 8">
              <a:extLst>
                <a:ext uri="{FF2B5EF4-FFF2-40B4-BE49-F238E27FC236}">
                  <a16:creationId xmlns:a16="http://schemas.microsoft.com/office/drawing/2014/main" id="{78346C80-9A13-EFFC-C0FD-9F840CA2B4BC}"/>
                </a:ext>
              </a:extLst>
            </p:cNvPr>
            <p:cNvSpPr/>
            <p:nvPr/>
          </p:nvSpPr>
          <p:spPr>
            <a:xfrm>
              <a:off x="4302644" y="4167930"/>
              <a:ext cx="5402884" cy="8894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89244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F419F-7375-54EF-1CB3-485DB418B8B6}"/>
            </a:ext>
          </a:extLst>
        </p:cNvPr>
        <p:cNvGrpSpPr/>
        <p:nvPr/>
      </p:nvGrpSpPr>
      <p:grpSpPr>
        <a:xfrm>
          <a:off x="0" y="0"/>
          <a:ext cx="0" cy="0"/>
          <a:chOff x="0" y="0"/>
          <a:chExt cx="0" cy="0"/>
        </a:xfrm>
      </p:grpSpPr>
      <p:sp>
        <p:nvSpPr>
          <p:cNvPr id="53" name="TextBox 6">
            <a:extLst>
              <a:ext uri="{FF2B5EF4-FFF2-40B4-BE49-F238E27FC236}">
                <a16:creationId xmlns:a16="http://schemas.microsoft.com/office/drawing/2014/main" id="{35C08812-E4E3-781B-1C8D-32C2CC3B4488}"/>
              </a:ext>
            </a:extLst>
          </p:cNvPr>
          <p:cNvSpPr txBox="1"/>
          <p:nvPr/>
        </p:nvSpPr>
        <p:spPr>
          <a:xfrm>
            <a:off x="280256" y="3031715"/>
            <a:ext cx="9281256" cy="1815882"/>
          </a:xfrm>
          <a:prstGeom prst="rect">
            <a:avLst/>
          </a:prstGeom>
          <a:solidFill>
            <a:schemeClr val="bg1"/>
          </a:solid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分析結果</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１．拠点周辺の滞在場所・滞在時間の特徴</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447675"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中心拠点：・・・</a:t>
            </a: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２．運行間隔の提案</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滞在時間を踏まえた運行間隔の調整を提案</a:t>
            </a: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5" name="正方形/長方形 4">
            <a:extLst>
              <a:ext uri="{FF2B5EF4-FFF2-40B4-BE49-F238E27FC236}">
                <a16:creationId xmlns:a16="http://schemas.microsoft.com/office/drawing/2014/main" id="{12071172-A574-0A3D-FB97-E9FB1879D722}"/>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205CF7C8-639F-4C56-EA1C-62334ACCA023}"/>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２</a:t>
            </a:r>
          </a:p>
        </p:txBody>
      </p:sp>
      <p:sp>
        <p:nvSpPr>
          <p:cNvPr id="8" name="テキスト ボックス 7">
            <a:extLst>
              <a:ext uri="{FF2B5EF4-FFF2-40B4-BE49-F238E27FC236}">
                <a16:creationId xmlns:a16="http://schemas.microsoft.com/office/drawing/2014/main" id="{AC416E29-34EA-1727-0013-7EB8556A909D}"/>
              </a:ext>
            </a:extLst>
          </p:cNvPr>
          <p:cNvSpPr txBox="1"/>
          <p:nvPr/>
        </p:nvSpPr>
        <p:spPr>
          <a:xfrm>
            <a:off x="128464" y="766550"/>
            <a:ext cx="9121704" cy="369332"/>
          </a:xfrm>
          <a:prstGeom prst="rect">
            <a:avLst/>
          </a:prstGeom>
          <a:noFill/>
        </p:spPr>
        <p:txBody>
          <a:bodyPr wrap="square" rtlCol="0">
            <a:spAutoFit/>
          </a:bodyPr>
          <a:lstStyle/>
          <a:p>
            <a:r>
              <a:rPr kumimoji="1" lang="ja-JP" altLang="en-US" dirty="0">
                <a:latin typeface="UD デジタル 教科書体 NK-R" panose="02020400000000000000" pitchFamily="18" charset="-128"/>
                <a:ea typeface="UD デジタル 教科書体 NK-R" panose="02020400000000000000" pitchFamily="18" charset="-128"/>
              </a:rPr>
              <a:t>（２）運行間隔の最適化　１）滞在</a:t>
            </a:r>
            <a:r>
              <a:rPr kumimoji="1" lang="zh-TW" altLang="en-US" dirty="0">
                <a:latin typeface="UD デジタル 教科書体 NK-R" panose="02020400000000000000" pitchFamily="18" charset="-128"/>
                <a:ea typeface="UD デジタル 教科書体 NK-R" panose="02020400000000000000" pitchFamily="18" charset="-128"/>
              </a:rPr>
              <a:t>分析</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4F4B3692-FE79-5024-BCFC-07847E82F1EC}"/>
              </a:ext>
            </a:extLst>
          </p:cNvPr>
          <p:cNvSpPr>
            <a:spLocks noGrp="1"/>
          </p:cNvSpPr>
          <p:nvPr>
            <p:ph type="sldNum" sz="quarter" idx="12"/>
          </p:nvPr>
        </p:nvSpPr>
        <p:spPr/>
        <p:txBody>
          <a:bodyPr/>
          <a:lstStyle/>
          <a:p>
            <a:fld id="{D79996DE-FBD2-443E-AEB9-D5C563058B9B}" type="slidenum">
              <a:rPr kumimoji="1" lang="ja-JP" altLang="en-US" smtClean="0"/>
              <a:t>7</a:t>
            </a:fld>
            <a:endParaRPr kumimoji="1" lang="ja-JP" altLang="en-US"/>
          </a:p>
        </p:txBody>
      </p:sp>
      <p:sp>
        <p:nvSpPr>
          <p:cNvPr id="2" name="TextBox 6">
            <a:extLst>
              <a:ext uri="{FF2B5EF4-FFF2-40B4-BE49-F238E27FC236}">
                <a16:creationId xmlns:a16="http://schemas.microsoft.com/office/drawing/2014/main" id="{DAB4DC54-4D9B-6AD0-A3FC-A8A48F6E5865}"/>
              </a:ext>
            </a:extLst>
          </p:cNvPr>
          <p:cNvSpPr txBox="1"/>
          <p:nvPr/>
        </p:nvSpPr>
        <p:spPr>
          <a:xfrm>
            <a:off x="280256" y="1293948"/>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分析条件</a:t>
            </a:r>
            <a:endParaRPr kumimoji="1" lang="en-US" altLang="ja-JP" sz="1400" dirty="0">
              <a:latin typeface="UD デジタル 教科書体 NK-R" panose="02020400000000000000" pitchFamily="18" charset="-128"/>
              <a:ea typeface="UD デジタル 教科書体 NK-R" panose="02020400000000000000" pitchFamily="18" charset="-128"/>
            </a:endParaRPr>
          </a:p>
          <a:p>
            <a:r>
              <a:rPr lang="en-US" altLang="ja-JP" sz="1400" dirty="0">
                <a:latin typeface="UD デジタル 教科書体 NK-R" panose="02020400000000000000" pitchFamily="18" charset="-128"/>
                <a:ea typeface="UD デジタル 教科書体 NK-R" panose="02020400000000000000" pitchFamily="18" charset="-128"/>
              </a:rPr>
              <a:t>1. </a:t>
            </a:r>
            <a:r>
              <a:rPr lang="ja-JP" altLang="en-US" sz="1400" dirty="0">
                <a:latin typeface="UD デジタル 教科書体 NK-R" panose="02020400000000000000" pitchFamily="18" charset="-128"/>
                <a:ea typeface="UD デジタル 教科書体 NK-R" panose="02020400000000000000" pitchFamily="18" charset="-128"/>
              </a:rPr>
              <a:t>拠点周辺の滞在分析を行い、滞在時間の特徴から、利用者像を整理</a:t>
            </a:r>
          </a:p>
          <a:p>
            <a:r>
              <a:rPr lang="en-US" altLang="ja-JP" sz="1400" dirty="0">
                <a:latin typeface="UD デジタル 教科書体 NK-R" panose="02020400000000000000" pitchFamily="18" charset="-128"/>
                <a:ea typeface="UD デジタル 教科書体 NK-R" panose="02020400000000000000" pitchFamily="18" charset="-128"/>
              </a:rPr>
              <a:t>2. </a:t>
            </a:r>
            <a:r>
              <a:rPr lang="ja-JP" altLang="en-US" sz="1400" dirty="0">
                <a:latin typeface="UD デジタル 教科書体 NK-R" panose="02020400000000000000" pitchFamily="18" charset="-128"/>
                <a:ea typeface="UD デジタル 教科書体 NK-R" panose="02020400000000000000" pitchFamily="18" charset="-128"/>
              </a:rPr>
              <a:t>利用者像のニーズに応じた運行時間や運行間隔を提案。</a:t>
            </a:r>
          </a:p>
        </p:txBody>
      </p:sp>
      <p:sp>
        <p:nvSpPr>
          <p:cNvPr id="7" name="テキスト ボックス 7">
            <a:extLst>
              <a:ext uri="{FF2B5EF4-FFF2-40B4-BE49-F238E27FC236}">
                <a16:creationId xmlns:a16="http://schemas.microsoft.com/office/drawing/2014/main" id="{344B059C-4D22-C363-926F-B3A4C18E7AC1}"/>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人流データ分析レポート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3" name="TextBox 6">
            <a:extLst>
              <a:ext uri="{FF2B5EF4-FFF2-40B4-BE49-F238E27FC236}">
                <a16:creationId xmlns:a16="http://schemas.microsoft.com/office/drawing/2014/main" id="{2D69808E-47A6-0333-F807-447246A27EA1}"/>
              </a:ext>
            </a:extLst>
          </p:cNvPr>
          <p:cNvSpPr txBox="1"/>
          <p:nvPr/>
        </p:nvSpPr>
        <p:spPr>
          <a:xfrm>
            <a:off x="280256" y="2128496"/>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分析対象</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平日</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自動車、バス、鉄道、自転車</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grpSp>
        <p:nvGrpSpPr>
          <p:cNvPr id="4" name="Group 3">
            <a:extLst>
              <a:ext uri="{FF2B5EF4-FFF2-40B4-BE49-F238E27FC236}">
                <a16:creationId xmlns:a16="http://schemas.microsoft.com/office/drawing/2014/main" id="{5CC2C50E-107B-430E-CCE8-1EDC848FA280}"/>
              </a:ext>
            </a:extLst>
          </p:cNvPr>
          <p:cNvGrpSpPr/>
          <p:nvPr/>
        </p:nvGrpSpPr>
        <p:grpSpPr>
          <a:xfrm>
            <a:off x="5241032" y="4768366"/>
            <a:ext cx="4551352" cy="1724511"/>
            <a:chOff x="273558" y="3101659"/>
            <a:chExt cx="9431970" cy="3573780"/>
          </a:xfrm>
        </p:grpSpPr>
        <p:pic>
          <p:nvPicPr>
            <p:cNvPr id="9" name="Picture 8">
              <a:extLst>
                <a:ext uri="{FF2B5EF4-FFF2-40B4-BE49-F238E27FC236}">
                  <a16:creationId xmlns:a16="http://schemas.microsoft.com/office/drawing/2014/main" id="{9ED78700-C90A-B4BA-DAC6-6F8065A7AD17}"/>
                </a:ext>
              </a:extLst>
            </p:cNvPr>
            <p:cNvPicPr>
              <a:picLocks noChangeAspect="1"/>
            </p:cNvPicPr>
            <p:nvPr/>
          </p:nvPicPr>
          <p:blipFill>
            <a:blip r:embed="rId2"/>
            <a:stretch>
              <a:fillRect/>
            </a:stretch>
          </p:blipFill>
          <p:spPr>
            <a:xfrm>
              <a:off x="273558" y="3101659"/>
              <a:ext cx="9358884" cy="3573780"/>
            </a:xfrm>
            <a:prstGeom prst="rect">
              <a:avLst/>
            </a:prstGeom>
          </p:spPr>
        </p:pic>
        <p:sp>
          <p:nvSpPr>
            <p:cNvPr id="10" name="Rectangle 9">
              <a:extLst>
                <a:ext uri="{FF2B5EF4-FFF2-40B4-BE49-F238E27FC236}">
                  <a16:creationId xmlns:a16="http://schemas.microsoft.com/office/drawing/2014/main" id="{3CE3ED4C-A827-FEFF-A05B-CC91520C91E0}"/>
                </a:ext>
              </a:extLst>
            </p:cNvPr>
            <p:cNvSpPr/>
            <p:nvPr/>
          </p:nvSpPr>
          <p:spPr>
            <a:xfrm>
              <a:off x="4451869" y="4949340"/>
              <a:ext cx="5253659" cy="8894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637811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77121-A50F-19E1-8F25-3F762836BA86}"/>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B65AB879-6EB6-4396-F6F5-9829924CBE67}"/>
              </a:ext>
            </a:extLst>
          </p:cNvPr>
          <p:cNvSpPr/>
          <p:nvPr/>
        </p:nvSpPr>
        <p:spPr>
          <a:xfrm>
            <a:off x="0" y="548680"/>
            <a:ext cx="9906000" cy="72008"/>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8BDB69B-6365-2B35-6B33-8CDABBA664B5}"/>
              </a:ext>
            </a:extLst>
          </p:cNvPr>
          <p:cNvSpPr/>
          <p:nvPr/>
        </p:nvSpPr>
        <p:spPr>
          <a:xfrm>
            <a:off x="0" y="0"/>
            <a:ext cx="560512" cy="548680"/>
          </a:xfrm>
          <a:prstGeom prst="rect">
            <a:avLst/>
          </a:prstGeom>
          <a:pattFill prst="dkUpDiag">
            <a:fgClr>
              <a:schemeClr val="accent4"/>
            </a:fgClr>
            <a:bgClr>
              <a:schemeClr val="accent4">
                <a:lumMod val="75000"/>
              </a:schemeClr>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UD デジタル 教科書体 NK-B" panose="02020700000000000000" pitchFamily="18" charset="-128"/>
                <a:ea typeface="UD デジタル 教科書体 NK-B" panose="02020700000000000000" pitchFamily="18" charset="-128"/>
              </a:rPr>
              <a:t>２</a:t>
            </a:r>
          </a:p>
        </p:txBody>
      </p:sp>
      <p:sp>
        <p:nvSpPr>
          <p:cNvPr id="8" name="テキスト ボックス 7">
            <a:extLst>
              <a:ext uri="{FF2B5EF4-FFF2-40B4-BE49-F238E27FC236}">
                <a16:creationId xmlns:a16="http://schemas.microsoft.com/office/drawing/2014/main" id="{06606D90-9B66-FF2F-3AF7-7203168B2B86}"/>
              </a:ext>
            </a:extLst>
          </p:cNvPr>
          <p:cNvSpPr txBox="1"/>
          <p:nvPr/>
        </p:nvSpPr>
        <p:spPr>
          <a:xfrm>
            <a:off x="128464" y="766550"/>
            <a:ext cx="9121704" cy="369332"/>
          </a:xfrm>
          <a:prstGeom prst="rect">
            <a:avLst/>
          </a:prstGeom>
          <a:noFill/>
        </p:spPr>
        <p:txBody>
          <a:bodyPr wrap="square" rtlCol="0">
            <a:spAutoFit/>
          </a:bodyPr>
          <a:lstStyle/>
          <a:p>
            <a:r>
              <a:rPr kumimoji="1" lang="ja-JP" altLang="en-US" dirty="0">
                <a:latin typeface="UD デジタル 教科書体 NK-R" panose="02020400000000000000" pitchFamily="18" charset="-128"/>
                <a:ea typeface="UD デジタル 教科書体 NK-R" panose="02020400000000000000" pitchFamily="18" charset="-128"/>
              </a:rPr>
              <a:t>（３）路線経路の変更　１）</a:t>
            </a:r>
            <a:r>
              <a:rPr kumimoji="1" lang="zh-TW" altLang="en-US" dirty="0">
                <a:latin typeface="UD デジタル 教科書体 NK-R" panose="02020400000000000000" pitchFamily="18" charset="-128"/>
                <a:ea typeface="UD デジタル 教科書体 NK-R" panose="02020400000000000000" pitchFamily="18" charset="-128"/>
              </a:rPr>
              <a:t>移動傾向（</a:t>
            </a:r>
            <a:r>
              <a:rPr kumimoji="1" lang="en-US" altLang="zh-TW" dirty="0">
                <a:latin typeface="UD デジタル 教科書体 NK-R" panose="02020400000000000000" pitchFamily="18" charset="-128"/>
                <a:ea typeface="UD デジタル 教科書体 NK-R" panose="02020400000000000000" pitchFamily="18" charset="-128"/>
              </a:rPr>
              <a:t>OD</a:t>
            </a:r>
            <a:r>
              <a:rPr kumimoji="1" lang="zh-TW" altLang="en-US" dirty="0">
                <a:latin typeface="UD デジタル 教科書体 NK-R" panose="02020400000000000000" pitchFamily="18" charset="-128"/>
                <a:ea typeface="UD デジタル 教科書体 NK-R" panose="02020400000000000000" pitchFamily="18" charset="-128"/>
              </a:rPr>
              <a:t>）分析</a:t>
            </a:r>
            <a:endParaRPr kumimoji="1" lang="ja-JP" altLang="en-US" dirty="0">
              <a:latin typeface="UD デジタル 教科書体 NK-R" panose="02020400000000000000" pitchFamily="18" charset="-128"/>
              <a:ea typeface="UD デジタル 教科書体 NK-R" panose="02020400000000000000" pitchFamily="18" charset="-128"/>
            </a:endParaRPr>
          </a:p>
        </p:txBody>
      </p:sp>
      <p:sp>
        <p:nvSpPr>
          <p:cNvPr id="18" name="スライド番号プレースホルダー 17">
            <a:extLst>
              <a:ext uri="{FF2B5EF4-FFF2-40B4-BE49-F238E27FC236}">
                <a16:creationId xmlns:a16="http://schemas.microsoft.com/office/drawing/2014/main" id="{A3075815-E09E-7E3E-6A6F-6A5B495307A2}"/>
              </a:ext>
            </a:extLst>
          </p:cNvPr>
          <p:cNvSpPr>
            <a:spLocks noGrp="1"/>
          </p:cNvSpPr>
          <p:nvPr>
            <p:ph type="sldNum" sz="quarter" idx="12"/>
          </p:nvPr>
        </p:nvSpPr>
        <p:spPr/>
        <p:txBody>
          <a:bodyPr/>
          <a:lstStyle/>
          <a:p>
            <a:fld id="{D79996DE-FBD2-443E-AEB9-D5C563058B9B}" type="slidenum">
              <a:rPr kumimoji="1" lang="ja-JP" altLang="en-US" smtClean="0"/>
              <a:t>8</a:t>
            </a:fld>
            <a:endParaRPr kumimoji="1" lang="ja-JP" altLang="en-US"/>
          </a:p>
        </p:txBody>
      </p:sp>
      <p:sp>
        <p:nvSpPr>
          <p:cNvPr id="2" name="TextBox 6">
            <a:extLst>
              <a:ext uri="{FF2B5EF4-FFF2-40B4-BE49-F238E27FC236}">
                <a16:creationId xmlns:a16="http://schemas.microsoft.com/office/drawing/2014/main" id="{DA1AEA42-1EC5-7D75-E960-101658FAD60E}"/>
              </a:ext>
            </a:extLst>
          </p:cNvPr>
          <p:cNvSpPr txBox="1"/>
          <p:nvPr/>
        </p:nvSpPr>
        <p:spPr>
          <a:xfrm>
            <a:off x="280256" y="1293948"/>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分析条件</a:t>
            </a:r>
            <a:endParaRPr kumimoji="1" lang="en-US" altLang="ja-JP" sz="1400" dirty="0">
              <a:latin typeface="UD デジタル 教科書体 NK-R" panose="02020400000000000000" pitchFamily="18" charset="-128"/>
              <a:ea typeface="UD デジタル 教科書体 NK-R" panose="02020400000000000000" pitchFamily="18" charset="-128"/>
            </a:endParaRPr>
          </a:p>
          <a:p>
            <a:r>
              <a:rPr lang="en-US" altLang="ja-JP" sz="1400" dirty="0">
                <a:latin typeface="UD デジタル 教科書体 NK-R" panose="02020400000000000000" pitchFamily="18" charset="-128"/>
                <a:ea typeface="UD デジタル 教科書体 NK-R" panose="02020400000000000000" pitchFamily="18" charset="-128"/>
              </a:rPr>
              <a:t>1. </a:t>
            </a:r>
            <a:r>
              <a:rPr lang="ja-JP" altLang="en-US" sz="1400" dirty="0">
                <a:latin typeface="UD デジタル 教科書体 NK-R" panose="02020400000000000000" pitchFamily="18" charset="-128"/>
                <a:ea typeface="UD デジタル 教科書体 NK-R" panose="02020400000000000000" pitchFamily="18" charset="-128"/>
              </a:rPr>
              <a:t>拠点の外側のエリアに関し、移動傾向分析を行い、主な</a:t>
            </a:r>
            <a:r>
              <a:rPr lang="en-US" altLang="ja-JP" sz="1400" dirty="0">
                <a:latin typeface="UD デジタル 教科書体 NK-R" panose="02020400000000000000" pitchFamily="18" charset="-128"/>
                <a:ea typeface="UD デジタル 教科書体 NK-R" panose="02020400000000000000" pitchFamily="18" charset="-128"/>
              </a:rPr>
              <a:t>OD</a:t>
            </a:r>
            <a:r>
              <a:rPr lang="ja-JP" altLang="en-US" sz="1400" dirty="0">
                <a:latin typeface="UD デジタル 教科書体 NK-R" panose="02020400000000000000" pitchFamily="18" charset="-128"/>
                <a:ea typeface="UD デジタル 教科書体 NK-R" panose="02020400000000000000" pitchFamily="18" charset="-128"/>
              </a:rPr>
              <a:t>を特定</a:t>
            </a:r>
          </a:p>
          <a:p>
            <a:r>
              <a:rPr lang="en-US" altLang="ja-JP" sz="1400" dirty="0">
                <a:latin typeface="UD デジタル 教科書体 NK-R" panose="02020400000000000000" pitchFamily="18" charset="-128"/>
                <a:ea typeface="UD デジタル 教科書体 NK-R" panose="02020400000000000000" pitchFamily="18" charset="-128"/>
              </a:rPr>
              <a:t>2. </a:t>
            </a:r>
            <a:r>
              <a:rPr lang="ja-JP" altLang="en-US" sz="1400" dirty="0">
                <a:latin typeface="UD デジタル 教科書体 NK-R" panose="02020400000000000000" pitchFamily="18" charset="-128"/>
                <a:ea typeface="UD デジタル 教科書体 NK-R" panose="02020400000000000000" pitchFamily="18" charset="-128"/>
              </a:rPr>
              <a:t>主な</a:t>
            </a:r>
            <a:r>
              <a:rPr lang="en-US" altLang="ja-JP" sz="1400" dirty="0">
                <a:latin typeface="UD デジタル 教科書体 NK-R" panose="02020400000000000000" pitchFamily="18" charset="-128"/>
                <a:ea typeface="UD デジタル 教科書体 NK-R" panose="02020400000000000000" pitchFamily="18" charset="-128"/>
              </a:rPr>
              <a:t>OD</a:t>
            </a:r>
            <a:r>
              <a:rPr lang="ja-JP" altLang="en-US" sz="1400" dirty="0">
                <a:latin typeface="UD デジタル 教科書体 NK-R" panose="02020400000000000000" pitchFamily="18" charset="-128"/>
                <a:ea typeface="UD デジタル 教科書体 NK-R" panose="02020400000000000000" pitchFamily="18" charset="-128"/>
              </a:rPr>
              <a:t>とバス路線とを重ね、路線変更案を提案</a:t>
            </a:r>
          </a:p>
        </p:txBody>
      </p:sp>
      <p:sp>
        <p:nvSpPr>
          <p:cNvPr id="7" name="テキスト ボックス 7">
            <a:extLst>
              <a:ext uri="{FF2B5EF4-FFF2-40B4-BE49-F238E27FC236}">
                <a16:creationId xmlns:a16="http://schemas.microsoft.com/office/drawing/2014/main" id="{EAEE40D2-89B0-5A3D-2DF6-1B0423E9A493}"/>
              </a:ext>
            </a:extLst>
          </p:cNvPr>
          <p:cNvSpPr txBox="1"/>
          <p:nvPr/>
        </p:nvSpPr>
        <p:spPr>
          <a:xfrm>
            <a:off x="583824" y="89674"/>
            <a:ext cx="9121704" cy="369332"/>
          </a:xfrm>
          <a:prstGeom prst="rect">
            <a:avLst/>
          </a:prstGeom>
          <a:noFill/>
        </p:spPr>
        <p:txBody>
          <a:bodyPr wrap="square" rtlCol="0">
            <a:spAutoFit/>
          </a:bodyPr>
          <a:lstStyle/>
          <a:p>
            <a:r>
              <a:rPr kumimoji="1" lang="ja-JP" altLang="en-US" dirty="0">
                <a:solidFill>
                  <a:schemeClr val="accent4">
                    <a:lumMod val="75000"/>
                  </a:schemeClr>
                </a:solidFill>
                <a:latin typeface="UD デジタル 教科書体 NK-B" panose="02020700000000000000" pitchFamily="18" charset="-128"/>
                <a:ea typeface="UD デジタル 教科書体 NK-B" panose="02020700000000000000" pitchFamily="18" charset="-128"/>
              </a:rPr>
              <a:t>人流データ分析レポート</a:t>
            </a:r>
            <a:endParaRPr kumimoji="1" lang="en-US" altLang="ja-JP" dirty="0">
              <a:solidFill>
                <a:schemeClr val="accent4">
                  <a:lumMod val="75000"/>
                </a:schemeClr>
              </a:solidFill>
              <a:latin typeface="UD デジタル 教科書体 NK-B" panose="02020700000000000000" pitchFamily="18" charset="-128"/>
              <a:ea typeface="UD デジタル 教科書体 NK-B" panose="02020700000000000000" pitchFamily="18" charset="-128"/>
            </a:endParaRPr>
          </a:p>
        </p:txBody>
      </p:sp>
      <p:sp>
        <p:nvSpPr>
          <p:cNvPr id="3" name="TextBox 6">
            <a:extLst>
              <a:ext uri="{FF2B5EF4-FFF2-40B4-BE49-F238E27FC236}">
                <a16:creationId xmlns:a16="http://schemas.microsoft.com/office/drawing/2014/main" id="{7834BFA8-4EBB-5781-A28F-59A5B3D005B8}"/>
              </a:ext>
            </a:extLst>
          </p:cNvPr>
          <p:cNvSpPr txBox="1"/>
          <p:nvPr/>
        </p:nvSpPr>
        <p:spPr>
          <a:xfrm>
            <a:off x="280256" y="2128496"/>
            <a:ext cx="9281256" cy="738664"/>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分析対象</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平日</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marL="361950"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自動車、バス、鉄道、自転車</a:t>
            </a:r>
            <a:endParaRPr kumimoji="1" lang="en-US" altLang="ja-JP" sz="1400" dirty="0">
              <a:latin typeface="UD デジタル 教科書体 NK-R" panose="02020400000000000000" pitchFamily="18" charset="-128"/>
              <a:ea typeface="UD デジタル 教科書体 NK-R" panose="02020400000000000000" pitchFamily="18" charset="-128"/>
            </a:endParaRPr>
          </a:p>
        </p:txBody>
      </p:sp>
      <p:sp>
        <p:nvSpPr>
          <p:cNvPr id="4" name="TextBox 6">
            <a:extLst>
              <a:ext uri="{FF2B5EF4-FFF2-40B4-BE49-F238E27FC236}">
                <a16:creationId xmlns:a16="http://schemas.microsoft.com/office/drawing/2014/main" id="{57AE229C-B8F7-A537-9562-791498C45CF2}"/>
              </a:ext>
            </a:extLst>
          </p:cNvPr>
          <p:cNvSpPr txBox="1"/>
          <p:nvPr/>
        </p:nvSpPr>
        <p:spPr>
          <a:xfrm>
            <a:off x="280256" y="3031715"/>
            <a:ext cx="9281256" cy="1384995"/>
          </a:xfrm>
          <a:prstGeom prst="rect">
            <a:avLst/>
          </a:prstGeom>
          <a:noFill/>
        </p:spPr>
        <p:txBody>
          <a:bodyPr wrap="square" rtlCol="0">
            <a:spAutoFit/>
          </a:bodyPr>
          <a:lstStyle/>
          <a:p>
            <a:pPr marL="285750" indent="-285750">
              <a:buFont typeface="Wingdings" panose="05000000000000000000" pitchFamily="2" charset="2"/>
              <a:buChar char="u"/>
            </a:pPr>
            <a:r>
              <a:rPr kumimoji="1" lang="ja-JP" altLang="en-US" sz="1400" dirty="0">
                <a:latin typeface="UD デジタル 教科書体 NK-R" panose="02020400000000000000" pitchFamily="18" charset="-128"/>
                <a:ea typeface="UD デジタル 教科書体 NK-R" panose="02020400000000000000" pitchFamily="18" charset="-128"/>
              </a:rPr>
              <a:t>分析結果</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１．拠点以外の主な</a:t>
            </a:r>
            <a:r>
              <a:rPr kumimoji="1" lang="en-US" altLang="ja-JP" sz="1400" dirty="0">
                <a:latin typeface="UD デジタル 教科書体 NK-R" panose="02020400000000000000" pitchFamily="18" charset="-128"/>
                <a:ea typeface="UD デジタル 教科書体 NK-R" panose="02020400000000000000" pitchFamily="18" charset="-128"/>
              </a:rPr>
              <a:t>OD</a:t>
            </a:r>
          </a:p>
          <a:p>
            <a:pPr marL="447675" indent="-180975">
              <a:buFont typeface="Wingdings" panose="05000000000000000000" pitchFamily="2" charset="2"/>
              <a:buChar char="ü"/>
            </a:pPr>
            <a:r>
              <a:rPr kumimoji="1" lang="ja-JP" altLang="en-US" sz="1400" dirty="0">
                <a:latin typeface="UD デジタル 教科書体 NK-R" panose="02020400000000000000" pitchFamily="18" charset="-128"/>
                <a:ea typeface="UD デジタル 教科書体 NK-R" panose="02020400000000000000" pitchFamily="18" charset="-128"/>
              </a:rPr>
              <a:t>・・・</a:t>
            </a:r>
          </a:p>
          <a:p>
            <a:pPr indent="180975"/>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２．拠点への路線案</a:t>
            </a:r>
            <a:endParaRPr kumimoji="1" lang="en-US" altLang="ja-JP" sz="1400" dirty="0">
              <a:latin typeface="UD デジタル 教科書体 NK-R" panose="02020400000000000000" pitchFamily="18" charset="-128"/>
              <a:ea typeface="UD デジタル 教科書体 NK-R" panose="02020400000000000000" pitchFamily="18" charset="-128"/>
            </a:endParaRPr>
          </a:p>
          <a:p>
            <a:pPr indent="180975"/>
            <a:r>
              <a:rPr kumimoji="1" lang="ja-JP" altLang="en-US" sz="1400" dirty="0">
                <a:latin typeface="UD デジタル 教科書体 NK-R" panose="02020400000000000000" pitchFamily="18" charset="-128"/>
                <a:ea typeface="UD デジタル 教科書体 NK-R" panose="02020400000000000000" pitchFamily="18" charset="-128"/>
              </a:rPr>
              <a:t>需要エリア間を接続する路線：・・・</a:t>
            </a:r>
          </a:p>
        </p:txBody>
      </p:sp>
      <p:grpSp>
        <p:nvGrpSpPr>
          <p:cNvPr id="9" name="Group 8">
            <a:extLst>
              <a:ext uri="{FF2B5EF4-FFF2-40B4-BE49-F238E27FC236}">
                <a16:creationId xmlns:a16="http://schemas.microsoft.com/office/drawing/2014/main" id="{CB8CF914-C40E-D759-3278-E4A9ECE42060}"/>
              </a:ext>
            </a:extLst>
          </p:cNvPr>
          <p:cNvGrpSpPr/>
          <p:nvPr/>
        </p:nvGrpSpPr>
        <p:grpSpPr>
          <a:xfrm>
            <a:off x="5241032" y="4768366"/>
            <a:ext cx="4551352" cy="1742334"/>
            <a:chOff x="273558" y="3101659"/>
            <a:chExt cx="9431970" cy="3610716"/>
          </a:xfrm>
        </p:grpSpPr>
        <p:pic>
          <p:nvPicPr>
            <p:cNvPr id="10" name="Picture 9">
              <a:extLst>
                <a:ext uri="{FF2B5EF4-FFF2-40B4-BE49-F238E27FC236}">
                  <a16:creationId xmlns:a16="http://schemas.microsoft.com/office/drawing/2014/main" id="{07C235DA-F868-2952-EF13-CEED74B08CDA}"/>
                </a:ext>
              </a:extLst>
            </p:cNvPr>
            <p:cNvPicPr>
              <a:picLocks noChangeAspect="1"/>
            </p:cNvPicPr>
            <p:nvPr/>
          </p:nvPicPr>
          <p:blipFill>
            <a:blip r:embed="rId2"/>
            <a:stretch>
              <a:fillRect/>
            </a:stretch>
          </p:blipFill>
          <p:spPr>
            <a:xfrm>
              <a:off x="273558" y="3101659"/>
              <a:ext cx="9358884" cy="3573780"/>
            </a:xfrm>
            <a:prstGeom prst="rect">
              <a:avLst/>
            </a:prstGeom>
          </p:spPr>
        </p:pic>
        <p:sp>
          <p:nvSpPr>
            <p:cNvPr id="11" name="Rectangle 10">
              <a:extLst>
                <a:ext uri="{FF2B5EF4-FFF2-40B4-BE49-F238E27FC236}">
                  <a16:creationId xmlns:a16="http://schemas.microsoft.com/office/drawing/2014/main" id="{1AAEBD93-C2D4-A2C6-01A9-B5CF846C612A}"/>
                </a:ext>
              </a:extLst>
            </p:cNvPr>
            <p:cNvSpPr/>
            <p:nvPr/>
          </p:nvSpPr>
          <p:spPr>
            <a:xfrm>
              <a:off x="4451869" y="5822962"/>
              <a:ext cx="5253659" cy="8894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57335393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E81B2898AF76447A8F32B55A42B5EF7" ma:contentTypeVersion="14" ma:contentTypeDescription="新しいドキュメントを作成します。" ma:contentTypeScope="" ma:versionID="3a9282d11df8154f2a0cf2644a484fed">
  <xsd:schema xmlns:xsd="http://www.w3.org/2001/XMLSchema" xmlns:xs="http://www.w3.org/2001/XMLSchema" xmlns:p="http://schemas.microsoft.com/office/2006/metadata/properties" xmlns:ns2="b875d5a4-82d4-4b50-9746-ebedb33cc3de" xmlns:ns3="1839422a-7471-4250-89d2-5a45a223d077" targetNamespace="http://schemas.microsoft.com/office/2006/metadata/properties" ma:root="true" ma:fieldsID="5b727e5c691a37934bae6f38c0ec9d6f" ns2:_="" ns3:_="">
    <xsd:import namespace="b875d5a4-82d4-4b50-9746-ebedb33cc3de"/>
    <xsd:import namespace="1839422a-7471-4250-89d2-5a45a223d0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75d5a4-82d4-4b50-9746-ebedb33cc3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87369404-55ef-400a-bfde-7777e30ffd2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839422a-7471-4250-89d2-5a45a223d077"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bb26dfdc-6f48-41d0-9b8e-2cbac9673886}" ma:internalName="TaxCatchAll" ma:showField="CatchAllData" ma:web="1839422a-7471-4250-89d2-5a45a223d0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839422a-7471-4250-89d2-5a45a223d077" xsi:nil="true"/>
    <lcf76f155ced4ddcb4097134ff3c332f xmlns="b875d5a4-82d4-4b50-9746-ebedb33cc3d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4A4FA8-2757-497D-9E39-B80ED65BCB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75d5a4-82d4-4b50-9746-ebedb33cc3de"/>
    <ds:schemaRef ds:uri="1839422a-7471-4250-89d2-5a45a223d0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B9C4F3-474C-46A0-8A86-E64D972DDACB}">
  <ds:schemaRefs>
    <ds:schemaRef ds:uri="http://schemas.microsoft.com/sharepoint/v3/contenttype/forms"/>
  </ds:schemaRefs>
</ds:datastoreItem>
</file>

<file path=customXml/itemProps3.xml><?xml version="1.0" encoding="utf-8"?>
<ds:datastoreItem xmlns:ds="http://schemas.openxmlformats.org/officeDocument/2006/customXml" ds:itemID="{E10183AF-CFAA-4974-ADE0-40B04CFB1B6A}">
  <ds:schemaRefs>
    <ds:schemaRef ds:uri="http://schemas.microsoft.com/office/infopath/2007/PartnerControls"/>
    <ds:schemaRef ds:uri="http://purl.org/dc/terms/"/>
    <ds:schemaRef ds:uri="65fcc98a-4435-4a9b-8c6f-8f6d7798a5ee"/>
    <ds:schemaRef ds:uri="http://schemas.microsoft.com/office/2006/documentManagement/types"/>
    <ds:schemaRef ds:uri="http://www.w3.org/XML/1998/namespace"/>
    <ds:schemaRef ds:uri="http://purl.org/dc/dcmitype/"/>
    <ds:schemaRef ds:uri="ea02cac9-771c-44bd-8e5a-5007cb5b378a"/>
    <ds:schemaRef ds:uri="http://schemas.openxmlformats.org/package/2006/metadata/core-properties"/>
    <ds:schemaRef ds:uri="http://schemas.microsoft.com/office/2006/metadata/properties"/>
    <ds:schemaRef ds:uri="http://purl.org/dc/elements/1.1/"/>
    <ds:schemaRef ds:uri="1839422a-7471-4250-89d2-5a45a223d077"/>
    <ds:schemaRef ds:uri="b875d5a4-82d4-4b50-9746-ebedb33cc3de"/>
  </ds:schemaRefs>
</ds:datastoreItem>
</file>

<file path=docMetadata/LabelInfo.xml><?xml version="1.0" encoding="utf-8"?>
<clbl:labelList xmlns:clbl="http://schemas.microsoft.com/office/2020/mipLabelMetadata">
  <clbl:label id="{ec3aa406-3a75-4d77-9a5f-3a7467f1cd1b}" enabled="0" method="" siteId="{ec3aa406-3a75-4d77-9a5f-3a7467f1cd1b}" removed="1"/>
</clbl:labelList>
</file>

<file path=docProps/app.xml><?xml version="1.0" encoding="utf-8"?>
<Properties xmlns="http://schemas.openxmlformats.org/officeDocument/2006/extended-properties" xmlns:vt="http://schemas.openxmlformats.org/officeDocument/2006/docPropsVTypes">
  <Template>Office Theme</Template>
  <TotalTime>1920</TotalTime>
  <Words>901</Words>
  <Application>Microsoft Office PowerPoint</Application>
  <PresentationFormat>A4 Paper (210x297 mm)</PresentationFormat>
  <Paragraphs>122</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UD デジタル 教科書体 N</vt:lpstr>
      <vt:lpstr>UD デジタル 教科書体 NK-B</vt:lpstr>
      <vt:lpstr>UD デジタル 教科書体 NK-R</vt:lpstr>
      <vt:lpstr>游ゴシック</vt:lpstr>
      <vt:lpstr>Aptos</vt:lpstr>
      <vt:lpstr>Aptos Display</vt:lpstr>
      <vt:lpstr>Arial</vt:lpstr>
      <vt:lpstr>Wingdings</vt:lpstr>
      <vt:lpstr>Office テーマ</vt:lpstr>
      <vt:lpstr>N-LOUPE 分析レポート（サンプル）  公共交通分野</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Shinsuke Konomi(許斐　信亮)</dc:creator>
  <cp:lastModifiedBy>Kenichi Kouchi(胡内　健一)</cp:lastModifiedBy>
  <cp:revision>38</cp:revision>
  <dcterms:created xsi:type="dcterms:W3CDTF">2025-05-12T04:25:20Z</dcterms:created>
  <dcterms:modified xsi:type="dcterms:W3CDTF">2026-03-09T05:04:13Z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0x0101008E81B2898AF76447A8F32B55A42B5EF7</vt:lpwstr>
  </property>
  <property fmtid="{D5CDD505-2E9C-101B-9397-08002B2CF9AE}" pid="3" name="MediaServiceImageTags">
    <vt:lpwstr/>
  </property>
</Properties>
</file>